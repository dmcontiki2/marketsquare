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253080"/>
          </a:solidFill>
          <a:ln w="12700">
            <a:solidFill>
              <a:srgbClr val="2530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0" y="0"/>
            <a:ext cx="1673352" cy="6858000"/>
          </a:xfrm>
          <a:prstGeom prst="rect">
            <a:avLst/>
          </a:prstGeom>
          <a:solidFill>
            <a:srgbClr val="2A3A8A"/>
          </a:solidFill>
          <a:ln w="12700">
            <a:solidFill>
              <a:srgbClr val="2A3A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097280"/>
            <a:ext cx="502920" cy="502920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29800" y="11887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Pretoria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607040" y="1097280"/>
            <a:ext cx="502920" cy="502920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01400" y="11887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235440" y="2103120"/>
            <a:ext cx="502920" cy="5029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29800" y="2194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607040" y="2103120"/>
            <a:ext cx="502920" cy="502920"/>
          </a:xfrm>
          <a:prstGeom prst="ellipse">
            <a:avLst/>
          </a:prstGeom>
          <a:solidFill>
            <a:srgbClr val="E8616A"/>
          </a:solidFill>
          <a:ln w="12700">
            <a:solidFill>
              <a:srgbClr val="E861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01400" y="2194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Sydney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4630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MarketSquare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502920" y="2468880"/>
            <a:ext cx="292608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6060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Launch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Pretoria  ·  New York  ·  London  ·  Sydney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5852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6263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trustsquare.co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Now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686800" y="2560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  ·  Current State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256032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51560"/>
            <a:ext cx="256032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143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693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20040" y="18562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Sellers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81528" y="1051560"/>
            <a:ext cx="256032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81528" y="1051560"/>
            <a:ext cx="2560320" cy="640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1143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081528" y="18562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at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43016" y="1051560"/>
            <a:ext cx="256032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43016" y="1051560"/>
            <a:ext cx="2560320" cy="6400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43016" y="1143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843016" y="18562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04504" y="1051560"/>
            <a:ext cx="256032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04504" y="1051560"/>
            <a:ext cx="256032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04504" y="1143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8604504" y="18562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 Backend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560320"/>
            <a:ext cx="5623560" cy="4023360"/>
          </a:xfrm>
          <a:prstGeom prst="rect">
            <a:avLst/>
          </a:prstGeom>
          <a:solidFill>
            <a:srgbClr val="F0FDF9"/>
          </a:solidFill>
          <a:ln w="19050">
            <a:solidFill>
              <a:srgbClr val="D1FA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560320"/>
            <a:ext cx="562356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67004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Working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3154680"/>
            <a:ext cx="5257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Core marketplace (FEA + BEA)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Trust Score system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Advert Agent (AI Coach)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Tiered AI packs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Intro flow end-to-end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Photo storage (Cloudflare R2)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4-level geo hierarchy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CityLauncher dashboard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Admin onboarding tool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2560320"/>
            <a:ext cx="5623560" cy="4023360"/>
          </a:xfrm>
          <a:prstGeom prst="rect">
            <a:avLst/>
          </a:prstGeom>
          <a:solidFill>
            <a:srgbClr val="FFF8F0"/>
          </a:solidFill>
          <a:ln w="19050">
            <a:solidFill>
              <a:srgbClr val="FFE8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63640" y="2560320"/>
            <a:ext cx="562356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267004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Do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492240" y="3154680"/>
            <a:ext cx="5257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Paystack live mode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n8n email notifications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Seller magic-link accept/decline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CIPC SA Pty Ltd registration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Sydney, Durban, Bloemfontein nearing threshold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Sydney pipeline: 52/60 sellers confirmed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53080"/>
          </a:solidFill>
          <a:ln w="12700">
            <a:solidFill>
              <a:srgbClr val="2530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554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0" y="24688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8-Week Roadmap to Wave 1 Public Launch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115568"/>
            <a:ext cx="9308592" cy="384048"/>
          </a:xfrm>
          <a:prstGeom prst="rect">
            <a:avLst/>
          </a:prstGeom>
          <a:solidFill>
            <a:srgbClr val="2A3A8A"/>
          </a:solidFill>
          <a:ln w="12700">
            <a:solidFill>
              <a:srgbClr val="2A3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69614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3188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762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260336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23910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587484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51058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1609344"/>
            <a:ext cx="11960352" cy="658368"/>
          </a:xfrm>
          <a:prstGeom prst="rect">
            <a:avLst/>
          </a:prstGeom>
          <a:solidFill>
            <a:srgbClr val="253080"/>
          </a:solidFill>
          <a:ln w="12700">
            <a:solidFill>
              <a:srgbClr val="2530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6642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60904" y="1737360"/>
            <a:ext cx="2217420" cy="40233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60904" y="1737360"/>
            <a:ext cx="22174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W1–W2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8600" y="2395728"/>
            <a:ext cx="11960352" cy="658368"/>
          </a:xfrm>
          <a:prstGeom prst="rect">
            <a:avLst/>
          </a:prstGeom>
          <a:solidFill>
            <a:srgbClr val="2A3A8A"/>
          </a:solidFill>
          <a:ln w="12700">
            <a:solidFill>
              <a:srgbClr val="2A3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450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Pipeline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24478" y="2523744"/>
            <a:ext cx="4544568" cy="40233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24478" y="2523744"/>
            <a:ext cx="4544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W2–W5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8600" y="3182112"/>
            <a:ext cx="11960352" cy="658368"/>
          </a:xfrm>
          <a:prstGeom prst="rect">
            <a:avLst/>
          </a:prstGeom>
          <a:solidFill>
            <a:srgbClr val="253080"/>
          </a:solidFill>
          <a:ln w="12700">
            <a:solidFill>
              <a:srgbClr val="2530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32369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Live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88052" y="3310128"/>
            <a:ext cx="2217420" cy="402336"/>
          </a:xfrm>
          <a:prstGeom prst="rect">
            <a:avLst/>
          </a:prstGeom>
          <a:solidFill>
            <a:srgbClr val="E8616A"/>
          </a:solidFill>
          <a:ln w="12700">
            <a:solidFill>
              <a:srgbClr val="E861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8052" y="3310128"/>
            <a:ext cx="22174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W3–W4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28600" y="3968496"/>
            <a:ext cx="11960352" cy="658368"/>
          </a:xfrm>
          <a:prstGeom prst="rect">
            <a:avLst/>
          </a:prstGeom>
          <a:solidFill>
            <a:srgbClr val="2A3A8A"/>
          </a:solidFill>
          <a:ln w="12700">
            <a:solidFill>
              <a:srgbClr val="2A3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0" y="4096512"/>
            <a:ext cx="2217420" cy="40233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4096512"/>
            <a:ext cx="22174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W5–W6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8600" y="4754880"/>
            <a:ext cx="11960352" cy="658368"/>
          </a:xfrm>
          <a:prstGeom prst="rect">
            <a:avLst/>
          </a:prstGeom>
          <a:solidFill>
            <a:srgbClr val="253080"/>
          </a:solidFill>
          <a:ln w="12700">
            <a:solidFill>
              <a:srgbClr val="253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8097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Launch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642348" y="4882896"/>
            <a:ext cx="2217420" cy="402336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2348" y="4882896"/>
            <a:ext cx="22174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W7–W8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651760" y="1115568"/>
            <a:ext cx="0" cy="4297680"/>
          </a:xfrm>
          <a:prstGeom prst="line">
            <a:avLst/>
          </a:prstGeom>
          <a:noFill/>
          <a:ln w="31750">
            <a:solidFill>
              <a:srgbClr val="E8616A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2331720" y="151790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6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8600" y="5550408"/>
            <a:ext cx="11960352" cy="621792"/>
          </a:xfrm>
          <a:prstGeom prst="rect">
            <a:avLst/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21349" y="558698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6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E86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84923" y="558698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Sellers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Soft Launch ◆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875645" y="558698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◆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616A"/>
          </a:solidFill>
          <a:ln w="12700">
            <a:solidFill>
              <a:srgbClr val="E861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 to Launch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229600" y="2560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blockers that gate soft-launch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4068" y="1188720"/>
            <a:ext cx="3474720" cy="411480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4068" y="1188720"/>
            <a:ext cx="3474720" cy="73152"/>
          </a:xfrm>
          <a:prstGeom prst="rect">
            <a:avLst/>
          </a:prstGeom>
          <a:solidFill>
            <a:srgbClr val="E8616A"/>
          </a:solidFill>
          <a:ln w="12700">
            <a:solidFill>
              <a:srgbClr val="E861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69948" y="1353312"/>
            <a:ext cx="822960" cy="822960"/>
          </a:xfrm>
          <a:prstGeom prst="ellipse">
            <a:avLst/>
          </a:prstGeom>
          <a:solidFill>
            <a:srgbClr val="E8616A"/>
          </a:solidFill>
          <a:ln w="12700">
            <a:solidFill>
              <a:srgbClr val="E861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69948" y="13533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26948" y="235915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CIPC Registration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2668" y="31089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Paystack live mode.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action — already in progress.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completion: 2–4 weeks.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57116" y="1188720"/>
            <a:ext cx="3474720" cy="411480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57116" y="1188720"/>
            <a:ext cx="347472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82996" y="1353312"/>
            <a:ext cx="822960" cy="8229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82996" y="13533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539996" y="235915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Founding Sellers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85716" y="31089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more sellers needed in Pretoria.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Masoushka + n8n SellerScraper pipeline.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city going public.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70164" y="1188720"/>
            <a:ext cx="3474720" cy="411480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70164" y="1188720"/>
            <a:ext cx="347472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96044" y="1353312"/>
            <a:ext cx="822960" cy="822960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96044" y="13533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353044" y="235915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Email Notifications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98764" y="31089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must receive intro requests.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N8N_WEBHOOK_NEW_INTRO env var + workflow.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real marketplace usage.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20040" y="5623560"/>
            <a:ext cx="11548872" cy="548640"/>
          </a:xfrm>
          <a:prstGeom prst="rect">
            <a:avLst/>
          </a:prstGeom>
          <a:solidFill>
            <a:srgbClr val="FFF3CD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660136"/>
            <a:ext cx="11338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blockers must be resolved before soft-launch can proceed.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08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Pipeline · Launch Status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96000" y="1020000"/>
            <a:ext cx="5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MET  ●  5 CITIES</a:t>
            </a:r>
            <a:endParaRPr lang="en-US" sz="1300" dirty="0"/>
          </a:p>
        </p:txBody>
      </p:sp>
      <p:sp>
        <p:nvSpPr>
          <p:cNvPr id="10" name="Card1Bg"/>
          <p:cNvSpPr/>
          <p:nvPr/>
        </p:nvSpPr>
        <p:spPr>
          <a:xfrm>
            <a:off x="296000" y="1290000"/>
            <a:ext cx="2180000" cy="1350000"/>
          </a:xfrm>
          <a:prstGeom prst="rect">
            <a:avLst/>
          </a:prstGeom>
          <a:solidFill>
            <a:srgbClr val="1E2F6B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11" name="Card1TopBar"/>
          <p:cNvSpPr/>
          <p:nvPr/>
        </p:nvSpPr>
        <p:spPr>
          <a:xfrm>
            <a:off x="296000" y="1290000"/>
            <a:ext cx="2180000" cy="5715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2" name="Card1Text"/>
          <p:cNvSpPr/>
          <p:nvPr/>
        </p:nvSpPr>
        <p:spPr>
          <a:xfrm>
            <a:off x="296000" y="1347150"/>
            <a:ext cx="2180000" cy="129285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Pretoria · ZA</a:t>
            </a:r>
            <a:endParaRPr lang="en-US" sz="22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62/60</a:t>
            </a:r>
            <a:endParaRPr lang="en-US" sz="2600" dirty="0"/>
          </a:p>
        </p:txBody>
      </p:sp>
      <p:sp>
        <p:nvSpPr>
          <p:cNvPr id="20" name="Card2Bg"/>
          <p:cNvSpPr/>
          <p:nvPr/>
        </p:nvSpPr>
        <p:spPr>
          <a:xfrm>
            <a:off x="2586000" y="1290000"/>
            <a:ext cx="2180000" cy="1350000"/>
          </a:xfrm>
          <a:prstGeom prst="rect">
            <a:avLst/>
          </a:prstGeom>
          <a:solidFill>
            <a:srgbClr val="1E2F6B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1" name="Card2TopBar"/>
          <p:cNvSpPr/>
          <p:nvPr/>
        </p:nvSpPr>
        <p:spPr>
          <a:xfrm>
            <a:off x="2586000" y="1290000"/>
            <a:ext cx="2180000" cy="5715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" name="Card2Text"/>
          <p:cNvSpPr/>
          <p:nvPr/>
        </p:nvSpPr>
        <p:spPr>
          <a:xfrm>
            <a:off x="2586000" y="1347150"/>
            <a:ext cx="2180000" cy="129285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· US</a:t>
            </a:r>
            <a:endParaRPr lang="en-US" sz="22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60/60</a:t>
            </a:r>
            <a:endParaRPr lang="en-US" sz="2600" dirty="0"/>
          </a:p>
        </p:txBody>
      </p:sp>
      <p:sp>
        <p:nvSpPr>
          <p:cNvPr id="30" name="Card3Bg"/>
          <p:cNvSpPr/>
          <p:nvPr/>
        </p:nvSpPr>
        <p:spPr>
          <a:xfrm>
            <a:off x="4876000" y="1290000"/>
            <a:ext cx="2180000" cy="1350000"/>
          </a:xfrm>
          <a:prstGeom prst="rect">
            <a:avLst/>
          </a:prstGeom>
          <a:solidFill>
            <a:srgbClr val="1E2F6B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31" name="Card3TopBar"/>
          <p:cNvSpPr/>
          <p:nvPr/>
        </p:nvSpPr>
        <p:spPr>
          <a:xfrm>
            <a:off x="4876000" y="1290000"/>
            <a:ext cx="2180000" cy="5715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2" name="Card3Text"/>
          <p:cNvSpPr/>
          <p:nvPr/>
        </p:nvSpPr>
        <p:spPr>
          <a:xfrm>
            <a:off x="4876000" y="1347150"/>
            <a:ext cx="2180000" cy="129285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· GB</a:t>
            </a:r>
            <a:endParaRPr lang="en-US" sz="22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63/60</a:t>
            </a:r>
            <a:endParaRPr lang="en-US" sz="2600" dirty="0"/>
          </a:p>
        </p:txBody>
      </p:sp>
      <p:sp>
        <p:nvSpPr>
          <p:cNvPr id="40" name="Card4Bg"/>
          <p:cNvSpPr/>
          <p:nvPr/>
        </p:nvSpPr>
        <p:spPr>
          <a:xfrm>
            <a:off x="7166000" y="1290000"/>
            <a:ext cx="2180000" cy="1350000"/>
          </a:xfrm>
          <a:prstGeom prst="rect">
            <a:avLst/>
          </a:prstGeom>
          <a:solidFill>
            <a:srgbClr val="1E2F6B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41" name="Card4TopBar"/>
          <p:cNvSpPr/>
          <p:nvPr/>
        </p:nvSpPr>
        <p:spPr>
          <a:xfrm>
            <a:off x="7166000" y="1290000"/>
            <a:ext cx="2180000" cy="5715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42" name="Card4Text"/>
          <p:cNvSpPr/>
          <p:nvPr/>
        </p:nvSpPr>
        <p:spPr>
          <a:xfrm>
            <a:off x="7166000" y="1347150"/>
            <a:ext cx="2180000" cy="129285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· ZA</a:t>
            </a:r>
            <a:endParaRPr lang="en-US" sz="22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65/60</a:t>
            </a:r>
            <a:endParaRPr lang="en-US" sz="2600" dirty="0"/>
          </a:p>
        </p:txBody>
      </p:sp>
      <p:sp>
        <p:nvSpPr>
          <p:cNvPr id="50" name="Card5Bg"/>
          <p:cNvSpPr/>
          <p:nvPr/>
        </p:nvSpPr>
        <p:spPr>
          <a:xfrm>
            <a:off x="9456000" y="1290000"/>
            <a:ext cx="2440000" cy="1350000"/>
          </a:xfrm>
          <a:prstGeom prst="rect">
            <a:avLst/>
          </a:prstGeom>
          <a:solidFill>
            <a:srgbClr val="1E2F6B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51" name="Card5TopBar"/>
          <p:cNvSpPr/>
          <p:nvPr/>
        </p:nvSpPr>
        <p:spPr>
          <a:xfrm>
            <a:off x="9456000" y="1290000"/>
            <a:ext cx="2440000" cy="5715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52" name="Card5Text"/>
          <p:cNvSpPr/>
          <p:nvPr/>
        </p:nvSpPr>
        <p:spPr>
          <a:xfrm>
            <a:off x="9456000" y="1347150"/>
            <a:ext cx="2440000" cy="129285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Johannesburg · ZA</a:t>
            </a:r>
            <a:endParaRPr lang="en-US" sz="22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63/60</a:t>
            </a:r>
            <a:endParaRPr lang="en-US" sz="2600" dirty="0"/>
          </a:p>
        </p:txBody>
      </p:sp>
      <p:sp>
        <p:nvSpPr>
          <p:cNvPr id="60" name="Text 4"/>
          <p:cNvSpPr/>
          <p:nvPr/>
        </p:nvSpPr>
        <p:spPr>
          <a:xfrm>
            <a:off x="296000" y="2740000"/>
            <a:ext cx="4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300" dirty="0"/>
          </a:p>
        </p:txBody>
      </p:sp>
      <p:sp>
        <p:nvSpPr>
          <p:cNvPr id="100" name="Row1Bg"/>
          <p:cNvSpPr/>
          <p:nvPr/>
        </p:nvSpPr>
        <p:spPr>
          <a:xfrm>
            <a:off x="296000" y="2990000"/>
            <a:ext cx="11600000" cy="370000"/>
          </a:xfrm>
          <a:prstGeom prst="rect">
            <a:avLst/>
          </a:prstGeom>
          <a:solidFill>
            <a:srgbClr val="1A2456"/>
          </a:solidFill>
          <a:ln w="0">
            <a:noFill/>
          </a:ln>
        </p:spPr>
      </p:sp>
      <p:sp>
        <p:nvSpPr>
          <p:cNvPr id="101" name="Row1Name"/>
          <p:cNvSpPr/>
          <p:nvPr/>
        </p:nvSpPr>
        <p:spPr>
          <a:xfrm>
            <a:off x="320000" y="29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Durban · ZA</a:t>
            </a:r>
            <a:endParaRPr lang="en-US" sz="1300" dirty="0"/>
          </a:p>
        </p:txBody>
      </p:sp>
      <p:sp>
        <p:nvSpPr>
          <p:cNvPr id="102" name="Row1BarBg"/>
          <p:cNvSpPr/>
          <p:nvPr/>
        </p:nvSpPr>
        <p:spPr>
          <a:xfrm>
            <a:off x="2500000" y="30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03" name="Row1BarFill"/>
          <p:cNvSpPr/>
          <p:nvPr/>
        </p:nvSpPr>
        <p:spPr>
          <a:xfrm>
            <a:off x="2500000" y="3080000"/>
            <a:ext cx="8245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04" name="Row1Count"/>
          <p:cNvSpPr/>
          <p:nvPr/>
        </p:nvSpPr>
        <p:spPr>
          <a:xfrm>
            <a:off x="11100000" y="29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58/60</a:t>
            </a:r>
            <a:endParaRPr lang="en-US" sz="1200" dirty="0"/>
          </a:p>
        </p:txBody>
      </p:sp>
      <p:sp>
        <p:nvSpPr>
          <p:cNvPr id="110" name="Row2Bg"/>
          <p:cNvSpPr/>
          <p:nvPr/>
        </p:nvSpPr>
        <p:spPr>
          <a:xfrm>
            <a:off x="296000" y="3390000"/>
            <a:ext cx="11600000" cy="370000"/>
          </a:xfrm>
          <a:prstGeom prst="rect">
            <a:avLst/>
          </a:prstGeom>
          <a:solidFill>
            <a:srgbClr val="1E2761"/>
          </a:solidFill>
          <a:ln w="0">
            <a:noFill/>
          </a:ln>
        </p:spPr>
      </p:sp>
      <p:sp>
        <p:nvSpPr>
          <p:cNvPr id="111" name="Row2Name"/>
          <p:cNvSpPr/>
          <p:nvPr/>
        </p:nvSpPr>
        <p:spPr>
          <a:xfrm>
            <a:off x="320000" y="33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Sydney · AU</a:t>
            </a:r>
            <a:endParaRPr lang="en-US" sz="1300" dirty="0"/>
          </a:p>
        </p:txBody>
      </p:sp>
      <p:sp>
        <p:nvSpPr>
          <p:cNvPr id="112" name="Row2BarBg"/>
          <p:cNvSpPr/>
          <p:nvPr/>
        </p:nvSpPr>
        <p:spPr>
          <a:xfrm>
            <a:off x="2500000" y="34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13" name="Row2BarFill"/>
          <p:cNvSpPr/>
          <p:nvPr/>
        </p:nvSpPr>
        <p:spPr>
          <a:xfrm>
            <a:off x="2500000" y="3480000"/>
            <a:ext cx="7395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14" name="Row2Count"/>
          <p:cNvSpPr/>
          <p:nvPr/>
        </p:nvSpPr>
        <p:spPr>
          <a:xfrm>
            <a:off x="11100000" y="33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52/60</a:t>
            </a:r>
            <a:endParaRPr lang="en-US" sz="1200" dirty="0"/>
          </a:p>
        </p:txBody>
      </p:sp>
      <p:sp>
        <p:nvSpPr>
          <p:cNvPr id="120" name="Row3Bg"/>
          <p:cNvSpPr/>
          <p:nvPr/>
        </p:nvSpPr>
        <p:spPr>
          <a:xfrm>
            <a:off x="296000" y="3790000"/>
            <a:ext cx="11600000" cy="370000"/>
          </a:xfrm>
          <a:prstGeom prst="rect">
            <a:avLst/>
          </a:prstGeom>
          <a:solidFill>
            <a:srgbClr val="1A2456"/>
          </a:solidFill>
          <a:ln w="0">
            <a:noFill/>
          </a:ln>
        </p:spPr>
      </p:sp>
      <p:sp>
        <p:nvSpPr>
          <p:cNvPr id="121" name="Row3Name"/>
          <p:cNvSpPr/>
          <p:nvPr/>
        </p:nvSpPr>
        <p:spPr>
          <a:xfrm>
            <a:off x="320000" y="37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Bloemfontein · ZA</a:t>
            </a:r>
            <a:endParaRPr lang="en-US" sz="1300" dirty="0"/>
          </a:p>
        </p:txBody>
      </p:sp>
      <p:sp>
        <p:nvSpPr>
          <p:cNvPr id="122" name="Row3BarBg"/>
          <p:cNvSpPr/>
          <p:nvPr/>
        </p:nvSpPr>
        <p:spPr>
          <a:xfrm>
            <a:off x="2500000" y="38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23" name="Row3BarFill"/>
          <p:cNvSpPr/>
          <p:nvPr/>
        </p:nvSpPr>
        <p:spPr>
          <a:xfrm>
            <a:off x="2500000" y="3880000"/>
            <a:ext cx="7650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24" name="Row3Count"/>
          <p:cNvSpPr/>
          <p:nvPr/>
        </p:nvSpPr>
        <p:spPr>
          <a:xfrm>
            <a:off x="11100000" y="37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54/60</a:t>
            </a:r>
            <a:endParaRPr lang="en-US" sz="1200" dirty="0"/>
          </a:p>
        </p:txBody>
      </p:sp>
      <p:sp>
        <p:nvSpPr>
          <p:cNvPr id="130" name="Row4Bg"/>
          <p:cNvSpPr/>
          <p:nvPr/>
        </p:nvSpPr>
        <p:spPr>
          <a:xfrm>
            <a:off x="296000" y="4190000"/>
            <a:ext cx="11600000" cy="370000"/>
          </a:xfrm>
          <a:prstGeom prst="rect">
            <a:avLst/>
          </a:prstGeom>
          <a:solidFill>
            <a:srgbClr val="1E2761"/>
          </a:solidFill>
          <a:ln w="0">
            <a:noFill/>
          </a:ln>
        </p:spPr>
      </p:sp>
      <p:sp>
        <p:nvSpPr>
          <p:cNvPr id="131" name="Row4Name"/>
          <p:cNvSpPr/>
          <p:nvPr/>
        </p:nvSpPr>
        <p:spPr>
          <a:xfrm>
            <a:off x="320000" y="41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London · ZA</a:t>
            </a:r>
            <a:endParaRPr lang="en-US" sz="1300" dirty="0"/>
          </a:p>
        </p:txBody>
      </p:sp>
      <p:sp>
        <p:nvSpPr>
          <p:cNvPr id="132" name="Row4BarBg"/>
          <p:cNvSpPr/>
          <p:nvPr/>
        </p:nvSpPr>
        <p:spPr>
          <a:xfrm>
            <a:off x="2500000" y="42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33" name="Row4BarFill"/>
          <p:cNvSpPr/>
          <p:nvPr/>
        </p:nvSpPr>
        <p:spPr>
          <a:xfrm>
            <a:off x="2500000" y="4280000"/>
            <a:ext cx="6630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34" name="Row4Count"/>
          <p:cNvSpPr/>
          <p:nvPr/>
        </p:nvSpPr>
        <p:spPr>
          <a:xfrm>
            <a:off x="11100000" y="41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47/60</a:t>
            </a:r>
            <a:endParaRPr lang="en-US" sz="1200" dirty="0"/>
          </a:p>
        </p:txBody>
      </p:sp>
      <p:sp>
        <p:nvSpPr>
          <p:cNvPr id="140" name="Row5Bg"/>
          <p:cNvSpPr/>
          <p:nvPr/>
        </p:nvSpPr>
        <p:spPr>
          <a:xfrm>
            <a:off x="296000" y="4590000"/>
            <a:ext cx="11600000" cy="370000"/>
          </a:xfrm>
          <a:prstGeom prst="rect">
            <a:avLst/>
          </a:prstGeom>
          <a:solidFill>
            <a:srgbClr val="1A2456"/>
          </a:solidFill>
          <a:ln w="0">
            <a:noFill/>
          </a:ln>
        </p:spPr>
      </p:sp>
      <p:sp>
        <p:nvSpPr>
          <p:cNvPr id="141" name="Row5Name"/>
          <p:cNvSpPr/>
          <p:nvPr/>
        </p:nvSpPr>
        <p:spPr>
          <a:xfrm>
            <a:off x="320000" y="45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Elizabeth · ZA</a:t>
            </a:r>
            <a:endParaRPr lang="en-US" sz="1300" dirty="0"/>
          </a:p>
        </p:txBody>
      </p:sp>
      <p:sp>
        <p:nvSpPr>
          <p:cNvPr id="142" name="Row5BarBg"/>
          <p:cNvSpPr/>
          <p:nvPr/>
        </p:nvSpPr>
        <p:spPr>
          <a:xfrm>
            <a:off x="2500000" y="46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43" name="Row5BarFill"/>
          <p:cNvSpPr/>
          <p:nvPr/>
        </p:nvSpPr>
        <p:spPr>
          <a:xfrm>
            <a:off x="2500000" y="4680000"/>
            <a:ext cx="5695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44" name="Row5Count"/>
          <p:cNvSpPr/>
          <p:nvPr/>
        </p:nvSpPr>
        <p:spPr>
          <a:xfrm>
            <a:off x="11100000" y="45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40/60</a:t>
            </a:r>
            <a:endParaRPr lang="en-US" sz="1200" dirty="0"/>
          </a:p>
        </p:txBody>
      </p:sp>
      <p:sp>
        <p:nvSpPr>
          <p:cNvPr id="150" name="Row6Bg"/>
          <p:cNvSpPr/>
          <p:nvPr/>
        </p:nvSpPr>
        <p:spPr>
          <a:xfrm>
            <a:off x="296000" y="4990000"/>
            <a:ext cx="11600000" cy="370000"/>
          </a:xfrm>
          <a:prstGeom prst="rect">
            <a:avLst/>
          </a:prstGeom>
          <a:solidFill>
            <a:srgbClr val="1E2761"/>
          </a:solidFill>
          <a:ln w="0">
            <a:noFill/>
          </a:ln>
        </p:spPr>
      </p:sp>
      <p:sp>
        <p:nvSpPr>
          <p:cNvPr id="151" name="Row6Name"/>
          <p:cNvSpPr/>
          <p:nvPr/>
        </p:nvSpPr>
        <p:spPr>
          <a:xfrm>
            <a:off x="320000" y="49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Polokwane · ZA</a:t>
            </a:r>
            <a:endParaRPr lang="en-US" sz="1300" dirty="0"/>
          </a:p>
        </p:txBody>
      </p:sp>
      <p:sp>
        <p:nvSpPr>
          <p:cNvPr id="152" name="Row6BarBg"/>
          <p:cNvSpPr/>
          <p:nvPr/>
        </p:nvSpPr>
        <p:spPr>
          <a:xfrm>
            <a:off x="2500000" y="50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53" name="Row6BarFill"/>
          <p:cNvSpPr/>
          <p:nvPr/>
        </p:nvSpPr>
        <p:spPr>
          <a:xfrm>
            <a:off x="2500000" y="5080000"/>
            <a:ext cx="1955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54" name="Row6Count"/>
          <p:cNvSpPr/>
          <p:nvPr/>
        </p:nvSpPr>
        <p:spPr>
          <a:xfrm>
            <a:off x="11100000" y="49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14/60</a:t>
            </a:r>
            <a:endParaRPr lang="en-US" sz="1200" dirty="0"/>
          </a:p>
        </p:txBody>
      </p:sp>
      <p:sp>
        <p:nvSpPr>
          <p:cNvPr id="200" name="Footer"/>
          <p:cNvSpPr/>
          <p:nvPr/>
        </p:nvSpPr>
        <p:spPr>
          <a:xfrm>
            <a:off x="296000" y="5450000"/>
            <a:ext cx="116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city launches publicly once it hits 60 founding sellers. KPI auto-triggers public visibility on trustsquare.co/launch/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Readiness · Go/No-Go Criteria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3566160" cy="544068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356616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07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4632" y="1700784"/>
            <a:ext cx="3236976" cy="0"/>
          </a:xfrm>
          <a:prstGeom prst="line">
            <a:avLst/>
          </a:prstGeom>
          <a:noFill/>
          <a:ln w="12700">
            <a:solidFill>
              <a:srgbClr val="D1D9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10512"/>
            <a:ext cx="3291840" cy="493776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38528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84708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 backend stable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359152"/>
            <a:ext cx="3291840" cy="493776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487168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39572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flow end-to-end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907792"/>
            <a:ext cx="3291840" cy="493776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035808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294436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upload + storage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456432"/>
            <a:ext cx="3291840" cy="493776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584448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49300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Score system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00507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13308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04164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email notifications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455371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68172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59028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magic-link accept/decline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510235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23036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13892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billing active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151376" y="1097280"/>
            <a:ext cx="3566160" cy="544068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51376" y="1097280"/>
            <a:ext cx="356616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15968" y="1207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15968" y="1700784"/>
            <a:ext cx="3236976" cy="0"/>
          </a:xfrm>
          <a:prstGeom prst="line">
            <a:avLst/>
          </a:prstGeom>
          <a:noFill/>
          <a:ln w="12700">
            <a:solidFill>
              <a:srgbClr val="D1D9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88536" y="1810512"/>
            <a:ext cx="3291840" cy="493776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79976" y="1938528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54296" y="184708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test mode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288536" y="235915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79976" y="248716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4296" y="239572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CIPC registration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288536" y="290779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79976" y="30358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54296" y="294436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live mode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4288536" y="345643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79976" y="358444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54296" y="349300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entity (NY/LON/SYD)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982712" y="1097280"/>
            <a:ext cx="3566160" cy="544068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82712" y="1097280"/>
            <a:ext cx="3566160" cy="640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47304" y="1207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147304" y="1700784"/>
            <a:ext cx="3236976" cy="0"/>
          </a:xfrm>
          <a:prstGeom prst="line">
            <a:avLst/>
          </a:prstGeom>
          <a:noFill/>
          <a:ln w="12700">
            <a:solidFill>
              <a:srgbClr val="D1D9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19872" y="181051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11312" y="193852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85632" y="184708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founding sellers (Pretoria)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8119872" y="235915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11312" y="248716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85632" y="239572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sellers each (NY · LON · SYD)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8119872" y="290779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211312" y="30358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85632" y="294436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listing content + photos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A50"/>
          </a:solidFill>
          <a:ln w="12700">
            <a:solidFill>
              <a:srgbClr val="111A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Day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0" y="1883664"/>
            <a:ext cx="3959352" cy="45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13532" y="3794760"/>
            <a:ext cx="201168" cy="91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0916" y="2011680"/>
            <a:ext cx="2606040" cy="3657600"/>
          </a:xfrm>
          <a:prstGeom prst="rect">
            <a:avLst/>
          </a:prstGeom>
          <a:solidFill>
            <a:srgbClr val="253080"/>
          </a:solidFill>
          <a:ln w="12700">
            <a:solidFill>
              <a:srgbClr val="2A3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" y="2011680"/>
            <a:ext cx="260604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" y="21488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745236" y="2907792"/>
            <a:ext cx="2057400" cy="0"/>
          </a:xfrm>
          <a:prstGeom prst="line">
            <a:avLst/>
          </a:prstGeom>
          <a:noFill/>
          <a:ln w="12700">
            <a:solidFill>
              <a:srgbClr val="00C9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" y="3017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fires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sellers confirmed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4 cities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93892" y="3794760"/>
            <a:ext cx="201168" cy="91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51276" y="2011680"/>
            <a:ext cx="2606040" cy="3657600"/>
          </a:xfrm>
          <a:prstGeom prst="rect">
            <a:avLst/>
          </a:prstGeom>
          <a:solidFill>
            <a:srgbClr val="253080"/>
          </a:solidFill>
          <a:ln w="12700">
            <a:solidFill>
              <a:srgbClr val="2A3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51276" y="2011680"/>
            <a:ext cx="2606040" cy="7315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1276" y="21488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3625596" y="2907792"/>
            <a:ext cx="2057400" cy="0"/>
          </a:xfrm>
          <a:prstGeom prst="line">
            <a:avLst/>
          </a:prstGeom>
          <a:noFill/>
          <a:ln w="12700">
            <a:solidFill>
              <a:srgbClr val="4A9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88436" y="3017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live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1T intro fees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to buyers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74252" y="3794760"/>
            <a:ext cx="201168" cy="91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31636" y="2011680"/>
            <a:ext cx="2606040" cy="3657600"/>
          </a:xfrm>
          <a:prstGeom prst="rect">
            <a:avLst/>
          </a:prstGeom>
          <a:solidFill>
            <a:srgbClr val="253080"/>
          </a:solidFill>
          <a:ln w="12700">
            <a:solidFill>
              <a:srgbClr val="2A3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31636" y="2011680"/>
            <a:ext cx="260604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31636" y="21488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23" name="Shape 21"/>
          <p:cNvSpPr/>
          <p:nvPr/>
        </p:nvSpPr>
        <p:spPr>
          <a:xfrm>
            <a:off x="6505956" y="2907792"/>
            <a:ext cx="2057400" cy="0"/>
          </a:xfrm>
          <a:prstGeom prst="line">
            <a:avLst/>
          </a:prstGeom>
          <a:noFill/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68796" y="3017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alerts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&amp; sellers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notified automatically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11996" y="2011680"/>
            <a:ext cx="2606040" cy="3657600"/>
          </a:xfrm>
          <a:prstGeom prst="rect">
            <a:avLst/>
          </a:prstGeom>
          <a:solidFill>
            <a:srgbClr val="253080"/>
          </a:solidFill>
          <a:ln w="12700">
            <a:solidFill>
              <a:srgbClr val="2A3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111996" y="2011680"/>
            <a:ext cx="2606040" cy="73152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1996" y="21488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28" name="Shape 26"/>
          <p:cNvSpPr/>
          <p:nvPr/>
        </p:nvSpPr>
        <p:spPr>
          <a:xfrm>
            <a:off x="9386316" y="2907792"/>
            <a:ext cx="2057400" cy="0"/>
          </a:xfrm>
          <a:prstGeom prst="line">
            <a:avLst/>
          </a:prstGeom>
          <a:noFill/>
          <a:ln w="12700">
            <a:solidFill>
              <a:srgbClr val="F1C40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49156" y="3017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CityLauncher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live cities shown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trustsquare.co/launch/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A0F30"/>
          </a:solidFill>
          <a:ln w="12700">
            <a:solidFill>
              <a:srgbClr val="0A0F3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2636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trustsquare.co  ·  The trusted anonymous marketplace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MarketSquare · Path to Launch</dc:title>
  <dc:subject>PptxGenJS Presentation</dc:subject>
  <dc:creator>MarketSquare</dc:creator>
  <cp:lastModifiedBy>MarketSquare</cp:lastModifiedBy>
  <cp:revision>1</cp:revision>
  <dcterms:created xsi:type="dcterms:W3CDTF">2026-04-15T17:23:17Z</dcterms:created>
  <dcterms:modified xsi:type="dcterms:W3CDTF">2026-04-15T17:23:17Z</dcterms:modified>
</cp:coreProperties>
</file>