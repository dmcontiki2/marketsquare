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09728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1097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235440" y="21031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07040" y="2103120"/>
            <a:ext cx="502920" cy="502920"/>
          </a:xfrm>
          <a:prstGeom prst="ellipse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014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MarketSquare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29260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Launch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Pretoria  ·  New York  ·  London  ·  Berlin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5852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trustsquare.co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256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Current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5603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1051560"/>
            <a:ext cx="256032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081528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43016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43016" y="1051560"/>
            <a:ext cx="256032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3016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843016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04504" y="1051560"/>
            <a:ext cx="2560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04504" y="10515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143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604504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60320"/>
            <a:ext cx="5623560" cy="4023360"/>
          </a:xfrm>
          <a:prstGeom prst="rect">
            <a:avLst/>
          </a:prstGeom>
          <a:solidFill>
            <a:srgbClr val="F0FDF9"/>
          </a:solidFill>
          <a:ln w="19050">
            <a:solidFill>
              <a:srgbClr val="D1F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60320"/>
            <a:ext cx="56235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700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Working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5257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Core marketplace (FEA + BEA)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Trust Score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Advert Agent (AI Coach)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Tiered AI packs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Intro flow end-to-end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Photo storage (Cloudflare R2)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4-level geo hierarchy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CityLauncher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Admin onboarding tool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2560320"/>
            <a:ext cx="5623560" cy="4023360"/>
          </a:xfrm>
          <a:prstGeom prst="rect">
            <a:avLst/>
          </a:prstGeom>
          <a:solidFill>
            <a:srgbClr val="FFF8F0"/>
          </a:solidFill>
          <a:ln w="19050">
            <a:solidFill>
              <a:srgbClr val="FFE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560320"/>
            <a:ext cx="56235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6700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3154680"/>
            <a:ext cx="5257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Paystack live 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n8n email notifications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Seller magic-link accept/decline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CIPC SA Pty Ltd registration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Sydney, Durban, Bloemfontein nearing threshold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Berlin pipeline not started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2468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Roadmap to Wave 1 Public 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115568"/>
            <a:ext cx="9308592" cy="38404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9614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3188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762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0336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3910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87484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51058" y="1152144"/>
            <a:ext cx="1163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1609344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60904" y="1737360"/>
            <a:ext cx="221742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1737360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11960352" cy="65836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24478" y="2523744"/>
            <a:ext cx="454456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4478" y="2523744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182112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369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Live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8052" y="3310128"/>
            <a:ext cx="2217420" cy="402336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8052" y="3310128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968496"/>
            <a:ext cx="11960352" cy="658368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096512"/>
            <a:ext cx="221742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096512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W5–W6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754880"/>
            <a:ext cx="11960352" cy="658368"/>
          </a:xfrm>
          <a:prstGeom prst="rect">
            <a:avLst/>
          </a:prstGeom>
          <a:solidFill>
            <a:srgbClr val="253080"/>
          </a:solidFill>
          <a:ln w="12700">
            <a:solidFill>
              <a:srgbClr val="253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09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Launch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2348" y="4882896"/>
            <a:ext cx="2217420" cy="402336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2348" y="4882896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1115568"/>
            <a:ext cx="0" cy="4297680"/>
          </a:xfrm>
          <a:prstGeom prst="line">
            <a:avLst/>
          </a:prstGeom>
          <a:noFill/>
          <a:ln w="31750">
            <a:solidFill>
              <a:srgbClr val="E8616A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331720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5550408"/>
            <a:ext cx="11960352" cy="621792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1349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84923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 Launch 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75645" y="55869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256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blockers that gate soft-launch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4068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068" y="1188720"/>
            <a:ext cx="3474720" cy="73152"/>
          </a:xfrm>
          <a:prstGeom prst="rect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69948" y="1353312"/>
            <a:ext cx="822960" cy="822960"/>
          </a:xfrm>
          <a:prstGeom prst="ellipse">
            <a:avLst/>
          </a:prstGeom>
          <a:solidFill>
            <a:srgbClr val="E8616A"/>
          </a:solidFill>
          <a:ln w="12700">
            <a:solidFill>
              <a:srgbClr val="E861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9948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6948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 Registration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2668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Paystack live mode.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action — already in progress.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completion: 2–4 weeks.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7116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7116" y="1188720"/>
            <a:ext cx="34747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2996" y="1353312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2996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39996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Founding Sellers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5716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more sellers needed in Pretoria.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Masoushka + n8n SellerScraper pipeline.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city going public.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70164" y="1188720"/>
            <a:ext cx="34747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0164" y="1188720"/>
            <a:ext cx="34747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044" y="1353312"/>
            <a:ext cx="822960" cy="8229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6044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53044" y="2359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Email Notifications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98764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must receive intro requests.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N8N_WEBHOOK_NEW_INTRO env var + workflow.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real marketplace usage.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5623560"/>
            <a:ext cx="11548872" cy="5486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60136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blockers must be resolved before soft-launch can proceed.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8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Pipeline · Launch Status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6000" y="1020000"/>
            <a:ext cx="5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MET  ●  5 CITIES</a:t>
            </a:r>
            <a:endParaRPr lang="en-US" sz="1300" dirty="0"/>
          </a:p>
        </p:txBody>
      </p:sp>
      <p:sp>
        <p:nvSpPr>
          <p:cNvPr id="10" name="Card1Bg"/>
          <p:cNvSpPr/>
          <p:nvPr/>
        </p:nvSpPr>
        <p:spPr>
          <a:xfrm>
            <a:off x="29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Card1TopBar"/>
          <p:cNvSpPr/>
          <p:nvPr/>
        </p:nvSpPr>
        <p:spPr>
          <a:xfrm>
            <a:off x="29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Card1Text"/>
          <p:cNvSpPr/>
          <p:nvPr/>
        </p:nvSpPr>
        <p:spPr>
          <a:xfrm>
            <a:off x="29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62/60</a:t>
            </a:r>
            <a:endParaRPr lang="en-US" sz="2600" dirty="0"/>
          </a:p>
        </p:txBody>
      </p:sp>
      <p:sp>
        <p:nvSpPr>
          <p:cNvPr id="20" name="Card2Bg"/>
          <p:cNvSpPr/>
          <p:nvPr/>
        </p:nvSpPr>
        <p:spPr>
          <a:xfrm>
            <a:off x="258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1" name="Card2TopBar"/>
          <p:cNvSpPr/>
          <p:nvPr/>
        </p:nvSpPr>
        <p:spPr>
          <a:xfrm>
            <a:off x="258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Card2Text"/>
          <p:cNvSpPr/>
          <p:nvPr/>
        </p:nvSpPr>
        <p:spPr>
          <a:xfrm>
            <a:off x="258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· US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60/60</a:t>
            </a:r>
            <a:endParaRPr lang="en-US" sz="2600" dirty="0"/>
          </a:p>
        </p:txBody>
      </p:sp>
      <p:sp>
        <p:nvSpPr>
          <p:cNvPr id="30" name="Card3Bg"/>
          <p:cNvSpPr/>
          <p:nvPr/>
        </p:nvSpPr>
        <p:spPr>
          <a:xfrm>
            <a:off x="487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1" name="Card3TopBar"/>
          <p:cNvSpPr/>
          <p:nvPr/>
        </p:nvSpPr>
        <p:spPr>
          <a:xfrm>
            <a:off x="487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Card3Text"/>
          <p:cNvSpPr/>
          <p:nvPr/>
        </p:nvSpPr>
        <p:spPr>
          <a:xfrm>
            <a:off x="487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· GB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63/60</a:t>
            </a:r>
            <a:endParaRPr lang="en-US" sz="2600" dirty="0"/>
          </a:p>
        </p:txBody>
      </p:sp>
      <p:sp>
        <p:nvSpPr>
          <p:cNvPr id="40" name="Card4Bg"/>
          <p:cNvSpPr/>
          <p:nvPr/>
        </p:nvSpPr>
        <p:spPr>
          <a:xfrm>
            <a:off x="7166000" y="1290000"/>
            <a:ext cx="218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1" name="Card4TopBar"/>
          <p:cNvSpPr/>
          <p:nvPr/>
        </p:nvSpPr>
        <p:spPr>
          <a:xfrm>
            <a:off x="7166000" y="1290000"/>
            <a:ext cx="218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Card4Text"/>
          <p:cNvSpPr/>
          <p:nvPr/>
        </p:nvSpPr>
        <p:spPr>
          <a:xfrm>
            <a:off x="7166000" y="1347150"/>
            <a:ext cx="218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65/60</a:t>
            </a:r>
            <a:endParaRPr lang="en-US" sz="2600" dirty="0"/>
          </a:p>
        </p:txBody>
      </p:sp>
      <p:sp>
        <p:nvSpPr>
          <p:cNvPr id="50" name="Card5Bg"/>
          <p:cNvSpPr/>
          <p:nvPr/>
        </p:nvSpPr>
        <p:spPr>
          <a:xfrm>
            <a:off x="9456000" y="1290000"/>
            <a:ext cx="2440000" cy="1350000"/>
          </a:xfrm>
          <a:prstGeom prst="rect">
            <a:avLst/>
          </a:prstGeom>
          <a:solidFill>
            <a:srgbClr val="1E2F6B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1" name="Card5TopBar"/>
          <p:cNvSpPr/>
          <p:nvPr/>
        </p:nvSpPr>
        <p:spPr>
          <a:xfrm>
            <a:off x="9456000" y="1290000"/>
            <a:ext cx="2440000" cy="5715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Card5Text"/>
          <p:cNvSpPr/>
          <p:nvPr/>
        </p:nvSpPr>
        <p:spPr>
          <a:xfrm>
            <a:off x="9456000" y="1347150"/>
            <a:ext cx="2440000" cy="129285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 · ZA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63/60</a:t>
            </a:r>
            <a:endParaRPr lang="en-US" sz="2600" dirty="0"/>
          </a:p>
        </p:txBody>
      </p:sp>
      <p:sp>
        <p:nvSpPr>
          <p:cNvPr id="60" name="Text 4"/>
          <p:cNvSpPr/>
          <p:nvPr/>
        </p:nvSpPr>
        <p:spPr>
          <a:xfrm>
            <a:off x="296000" y="2740000"/>
            <a:ext cx="4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00" name="Row1Bg"/>
          <p:cNvSpPr/>
          <p:nvPr/>
        </p:nvSpPr>
        <p:spPr>
          <a:xfrm>
            <a:off x="296000" y="29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01" name="Row1Name"/>
          <p:cNvSpPr/>
          <p:nvPr/>
        </p:nvSpPr>
        <p:spPr>
          <a:xfrm>
            <a:off x="320000" y="29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 · ZA</a:t>
            </a:r>
            <a:endParaRPr lang="en-US" sz="1300" dirty="0"/>
          </a:p>
        </p:txBody>
      </p:sp>
      <p:sp>
        <p:nvSpPr>
          <p:cNvPr id="102" name="Row1BarBg"/>
          <p:cNvSpPr/>
          <p:nvPr/>
        </p:nvSpPr>
        <p:spPr>
          <a:xfrm>
            <a:off x="2500000" y="30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03" name="Row1BarFill"/>
          <p:cNvSpPr/>
          <p:nvPr/>
        </p:nvSpPr>
        <p:spPr>
          <a:xfrm>
            <a:off x="2500000" y="3080000"/>
            <a:ext cx="824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04" name="Row1Count"/>
          <p:cNvSpPr/>
          <p:nvPr/>
        </p:nvSpPr>
        <p:spPr>
          <a:xfrm>
            <a:off x="11100000" y="29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58/60</a:t>
            </a:r>
            <a:endParaRPr lang="en-US" sz="1200" dirty="0"/>
          </a:p>
        </p:txBody>
      </p:sp>
      <p:sp>
        <p:nvSpPr>
          <p:cNvPr id="110" name="Row2Bg"/>
          <p:cNvSpPr/>
          <p:nvPr/>
        </p:nvSpPr>
        <p:spPr>
          <a:xfrm>
            <a:off x="296000" y="33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11" name="Row2Name"/>
          <p:cNvSpPr/>
          <p:nvPr/>
        </p:nvSpPr>
        <p:spPr>
          <a:xfrm>
            <a:off x="320000" y="33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· AU</a:t>
            </a:r>
            <a:endParaRPr lang="en-US" sz="1300" dirty="0"/>
          </a:p>
        </p:txBody>
      </p:sp>
      <p:sp>
        <p:nvSpPr>
          <p:cNvPr id="112" name="Row2BarBg"/>
          <p:cNvSpPr/>
          <p:nvPr/>
        </p:nvSpPr>
        <p:spPr>
          <a:xfrm>
            <a:off x="2500000" y="34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13" name="Row2BarFill"/>
          <p:cNvSpPr/>
          <p:nvPr/>
        </p:nvSpPr>
        <p:spPr>
          <a:xfrm>
            <a:off x="2500000" y="3480000"/>
            <a:ext cx="739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14" name="Row2Count"/>
          <p:cNvSpPr/>
          <p:nvPr/>
        </p:nvSpPr>
        <p:spPr>
          <a:xfrm>
            <a:off x="11100000" y="33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52/60</a:t>
            </a:r>
            <a:endParaRPr lang="en-US" sz="1200" dirty="0"/>
          </a:p>
        </p:txBody>
      </p:sp>
      <p:sp>
        <p:nvSpPr>
          <p:cNvPr id="120" name="Row3Bg"/>
          <p:cNvSpPr/>
          <p:nvPr/>
        </p:nvSpPr>
        <p:spPr>
          <a:xfrm>
            <a:off x="296000" y="37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21" name="Row3Name"/>
          <p:cNvSpPr/>
          <p:nvPr/>
        </p:nvSpPr>
        <p:spPr>
          <a:xfrm>
            <a:off x="320000" y="37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Bloemfontein · ZA</a:t>
            </a:r>
            <a:endParaRPr lang="en-US" sz="1300" dirty="0"/>
          </a:p>
        </p:txBody>
      </p:sp>
      <p:sp>
        <p:nvSpPr>
          <p:cNvPr id="122" name="Row3BarBg"/>
          <p:cNvSpPr/>
          <p:nvPr/>
        </p:nvSpPr>
        <p:spPr>
          <a:xfrm>
            <a:off x="2500000" y="38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23" name="Row3BarFill"/>
          <p:cNvSpPr/>
          <p:nvPr/>
        </p:nvSpPr>
        <p:spPr>
          <a:xfrm>
            <a:off x="2500000" y="3880000"/>
            <a:ext cx="7650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24" name="Row3Count"/>
          <p:cNvSpPr/>
          <p:nvPr/>
        </p:nvSpPr>
        <p:spPr>
          <a:xfrm>
            <a:off x="11100000" y="37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54/60</a:t>
            </a:r>
            <a:endParaRPr lang="en-US" sz="1200" dirty="0"/>
          </a:p>
        </p:txBody>
      </p:sp>
      <p:sp>
        <p:nvSpPr>
          <p:cNvPr id="130" name="Row4Bg"/>
          <p:cNvSpPr/>
          <p:nvPr/>
        </p:nvSpPr>
        <p:spPr>
          <a:xfrm>
            <a:off x="296000" y="41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31" name="Row4Name"/>
          <p:cNvSpPr/>
          <p:nvPr/>
        </p:nvSpPr>
        <p:spPr>
          <a:xfrm>
            <a:off x="320000" y="41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London · ZA</a:t>
            </a:r>
            <a:endParaRPr lang="en-US" sz="1300" dirty="0"/>
          </a:p>
        </p:txBody>
      </p:sp>
      <p:sp>
        <p:nvSpPr>
          <p:cNvPr id="132" name="Row4BarBg"/>
          <p:cNvSpPr/>
          <p:nvPr/>
        </p:nvSpPr>
        <p:spPr>
          <a:xfrm>
            <a:off x="2500000" y="42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33" name="Row4BarFill"/>
          <p:cNvSpPr/>
          <p:nvPr/>
        </p:nvSpPr>
        <p:spPr>
          <a:xfrm>
            <a:off x="2500000" y="4280000"/>
            <a:ext cx="6630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34" name="Row4Count"/>
          <p:cNvSpPr/>
          <p:nvPr/>
        </p:nvSpPr>
        <p:spPr>
          <a:xfrm>
            <a:off x="11100000" y="41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47/60</a:t>
            </a:r>
            <a:endParaRPr lang="en-US" sz="1200" dirty="0"/>
          </a:p>
        </p:txBody>
      </p:sp>
      <p:sp>
        <p:nvSpPr>
          <p:cNvPr id="140" name="Row5Bg"/>
          <p:cNvSpPr/>
          <p:nvPr/>
        </p:nvSpPr>
        <p:spPr>
          <a:xfrm>
            <a:off x="296000" y="4590000"/>
            <a:ext cx="11600000" cy="370000"/>
          </a:xfrm>
          <a:prstGeom prst="rect">
            <a:avLst/>
          </a:prstGeom>
          <a:solidFill>
            <a:srgbClr val="1A2456"/>
          </a:solidFill>
          <a:ln w="0">
            <a:noFill/>
          </a:ln>
        </p:spPr>
      </p:sp>
      <p:sp>
        <p:nvSpPr>
          <p:cNvPr id="141" name="Row5Name"/>
          <p:cNvSpPr/>
          <p:nvPr/>
        </p:nvSpPr>
        <p:spPr>
          <a:xfrm>
            <a:off x="320000" y="45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Elizabeth · ZA</a:t>
            </a:r>
            <a:endParaRPr lang="en-US" sz="1300" dirty="0"/>
          </a:p>
        </p:txBody>
      </p:sp>
      <p:sp>
        <p:nvSpPr>
          <p:cNvPr id="142" name="Row5BarBg"/>
          <p:cNvSpPr/>
          <p:nvPr/>
        </p:nvSpPr>
        <p:spPr>
          <a:xfrm>
            <a:off x="2500000" y="46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43" name="Row5BarFill"/>
          <p:cNvSpPr/>
          <p:nvPr/>
        </p:nvSpPr>
        <p:spPr>
          <a:xfrm>
            <a:off x="2500000" y="4680000"/>
            <a:ext cx="569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44" name="Row5Count"/>
          <p:cNvSpPr/>
          <p:nvPr/>
        </p:nvSpPr>
        <p:spPr>
          <a:xfrm>
            <a:off x="11100000" y="45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40/60</a:t>
            </a:r>
            <a:endParaRPr lang="en-US" sz="1200" dirty="0"/>
          </a:p>
        </p:txBody>
      </p:sp>
      <p:sp>
        <p:nvSpPr>
          <p:cNvPr id="150" name="Row6Bg"/>
          <p:cNvSpPr/>
          <p:nvPr/>
        </p:nvSpPr>
        <p:spPr>
          <a:xfrm>
            <a:off x="296000" y="4990000"/>
            <a:ext cx="11600000" cy="370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151" name="Row6Name"/>
          <p:cNvSpPr/>
          <p:nvPr/>
        </p:nvSpPr>
        <p:spPr>
          <a:xfrm>
            <a:off x="320000" y="4990000"/>
            <a:ext cx="20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Polokwane · ZA</a:t>
            </a:r>
            <a:endParaRPr lang="en-US" sz="1300" dirty="0"/>
          </a:p>
        </p:txBody>
      </p:sp>
      <p:sp>
        <p:nvSpPr>
          <p:cNvPr id="152" name="Row6BarBg"/>
          <p:cNvSpPr/>
          <p:nvPr/>
        </p:nvSpPr>
        <p:spPr>
          <a:xfrm>
            <a:off x="2500000" y="5080000"/>
            <a:ext cx="8500000" cy="185000"/>
          </a:xfrm>
          <a:prstGeom prst="rect">
            <a:avLst/>
          </a:prstGeom>
          <a:solidFill>
            <a:srgbClr val="253080"/>
          </a:solidFill>
          <a:ln w="0">
            <a:noFill/>
          </a:ln>
        </p:spPr>
      </p:sp>
      <p:sp>
        <p:nvSpPr>
          <p:cNvPr id="153" name="Row6BarFill"/>
          <p:cNvSpPr/>
          <p:nvPr/>
        </p:nvSpPr>
        <p:spPr>
          <a:xfrm>
            <a:off x="2500000" y="5080000"/>
            <a:ext cx="1955000" cy="185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54" name="Row6Count"/>
          <p:cNvSpPr/>
          <p:nvPr/>
        </p:nvSpPr>
        <p:spPr>
          <a:xfrm>
            <a:off x="11100000" y="4990000"/>
            <a:ext cx="80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14/60</a:t>
            </a:r>
            <a:endParaRPr lang="en-US" sz="1200" dirty="0"/>
          </a:p>
        </p:txBody>
      </p:sp>
      <p:sp>
        <p:nvSpPr>
          <p:cNvPr id="200" name="Footer"/>
          <p:cNvSpPr/>
          <p:nvPr/>
        </p:nvSpPr>
        <p:spPr>
          <a:xfrm>
            <a:off x="296000" y="5450000"/>
            <a:ext cx="116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launches publicly once it hits 60 founding sellers. KPI auto-triggers public visibility on trustsquare.co/launch/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· Go/No-Go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5661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385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 backend stable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8716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flow end-to-end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3580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+ storage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844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9300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system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330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4164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email notifications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817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902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magic-link accept/decline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51023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30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389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billing active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51376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51376" y="1097280"/>
            <a:ext cx="35661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15968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88536" y="1810512"/>
            <a:ext cx="3291840" cy="49377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9976" y="19385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test mode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88536" y="23591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9976" y="24871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4296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 registration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88536" y="290779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9976" y="30358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live mode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288536" y="345643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9976" y="35844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349300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entity (NY/LON/BER)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82712" y="1097280"/>
            <a:ext cx="3566160" cy="54406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2712" y="1097280"/>
            <a:ext cx="35661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47304" y="1207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47304" y="1700784"/>
            <a:ext cx="3236976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181051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11312" y="19385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18470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founding sellers (Pretoria)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119872" y="235915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11312" y="24871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5632" y="23957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 each (NY · LON · BER)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119872" y="2907792"/>
            <a:ext cx="3291840" cy="493776"/>
          </a:xfrm>
          <a:prstGeom prst="rect">
            <a:avLst/>
          </a:prstGeom>
          <a:solidFill>
            <a:srgbClr val="FFF9E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11312" y="30358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85632" y="294436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listing content + photos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A50"/>
          </a:solidFill>
          <a:ln w="12700">
            <a:solidFill>
              <a:srgbClr val="111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1883664"/>
            <a:ext cx="3959352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1353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" y="201168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45236" y="2907792"/>
            <a:ext cx="205740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fires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sellers confirmed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 cities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389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127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1276" y="2011680"/>
            <a:ext cx="26060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127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25596" y="2907792"/>
            <a:ext cx="2057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843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live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1T intro fees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 buyers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74252" y="3794760"/>
            <a:ext cx="20116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1636" y="201168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163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505956" y="2907792"/>
            <a:ext cx="20574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alerts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sellers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automatically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11996" y="2011680"/>
            <a:ext cx="2606040" cy="3657600"/>
          </a:xfrm>
          <a:prstGeom prst="rect">
            <a:avLst/>
          </a:prstGeom>
          <a:solidFill>
            <a:srgbClr val="253080"/>
          </a:solidFill>
          <a:ln w="12700">
            <a:solidFill>
              <a:srgbClr val="2A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11996" y="2011680"/>
            <a:ext cx="2606040" cy="7315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1996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386316" y="2907792"/>
            <a:ext cx="2057400" cy="0"/>
          </a:xfrm>
          <a:prstGeom prst="line">
            <a:avLst/>
          </a:prstGeom>
          <a:noFill/>
          <a:ln w="12700">
            <a:solidFill>
              <a:srgbClr val="F1C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49156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CityLauncher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cities shown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trustsquare.co/launch/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0F30"/>
          </a:solidFill>
          <a:ln w="12700">
            <a:solidFill>
              <a:srgbClr val="0A0F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trustsquare.co  ·  The trusted anonymous marketplace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MarketSquare · Path to Launch</dc:title>
  <dc:subject>PptxGenJS Presentation</dc:subject>
  <dc:creator>MarketSquare</dc:creator>
  <cp:lastModifiedBy>MarketSquare</cp:lastModifiedBy>
  <cp:revision>1</cp:revision>
  <dcterms:created xsi:type="dcterms:W3CDTF">2026-04-15T17:23:17Z</dcterms:created>
  <dcterms:modified xsi:type="dcterms:W3CDTF">2026-04-15T17:23:17Z</dcterms:modified>
</cp:coreProperties>
</file>