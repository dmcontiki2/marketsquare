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14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9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253080"/>
          </a:solidFill>
          <a:ln w="12700">
            <a:solidFill>
              <a:srgbClr val="2530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0"/>
            <a:ext cx="1673352" cy="6858000"/>
          </a:xfrm>
          <a:prstGeom prst="rect">
            <a:avLst/>
          </a:prstGeom>
          <a:solidFill>
            <a:srgbClr val="2A3A8A"/>
          </a:solidFill>
          <a:ln w="12700">
            <a:solidFill>
              <a:srgbClr val="2A3A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0" y="1097280"/>
            <a:ext cx="502920" cy="50292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29800" y="1188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Pretoria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607040" y="1097280"/>
            <a:ext cx="502920" cy="5029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01400" y="1188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235440" y="2103120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9800" y="2194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607040" y="2103120"/>
            <a:ext cx="502920" cy="502920"/>
          </a:xfrm>
          <a:prstGeom prst="ellipse">
            <a:avLst/>
          </a:prstGeom>
          <a:solidFill>
            <a:srgbClr val="E8616A"/>
          </a:solidFill>
          <a:ln w="12700">
            <a:solidFill>
              <a:srgbClr val="E861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01400" y="2194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Sydney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14630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MarketSquare</a:t>
            </a:r>
            <a:endParaRPr lang="en-US" sz="5200" dirty="0"/>
          </a:p>
        </p:txBody>
      </p:sp>
      <p:sp>
        <p:nvSpPr>
          <p:cNvPr id="14" name="Shape 12"/>
          <p:cNvSpPr/>
          <p:nvPr/>
        </p:nvSpPr>
        <p:spPr>
          <a:xfrm>
            <a:off x="502920" y="2468880"/>
            <a:ext cx="292608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060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Launch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02920" y="33832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 ·  Pretoria  ·  New York  ·  London  ·  Sydney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" y="5852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6263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trustsquare.co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Now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86800" y="25603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·  Current State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2560320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256032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43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693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" y="18562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Sellers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81528" y="1051560"/>
            <a:ext cx="2560320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81528" y="1051560"/>
            <a:ext cx="256032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81528" y="1143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081528" y="18562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at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43016" y="1051560"/>
            <a:ext cx="2560320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43016" y="1051560"/>
            <a:ext cx="2560320" cy="6400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43016" y="1143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5843016" y="18562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04504" y="1051560"/>
            <a:ext cx="2560320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04504" y="1051560"/>
            <a:ext cx="256032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04504" y="1143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v1.2.0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8604504" y="18562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 Backend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560320"/>
            <a:ext cx="5623560" cy="4023360"/>
          </a:xfrm>
          <a:prstGeom prst="rect">
            <a:avLst/>
          </a:prstGeom>
          <a:solidFill>
            <a:srgbClr val="F0FDF9"/>
          </a:solidFill>
          <a:ln w="19050">
            <a:solidFill>
              <a:srgbClr val="D1FA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2560320"/>
            <a:ext cx="562356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670048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&amp; Working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3154680"/>
            <a:ext cx="52578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Core marketplace (FEA + BEA)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Trust Score system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Advert Agent (AI Coach)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Tiered AI packs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Intro flow end-to-end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Photo storage (Cloudflare R2)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4-level geo hierarchy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CityLauncher dashboard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Admin onboarding tool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63640" y="2560320"/>
            <a:ext cx="5623560" cy="4023360"/>
          </a:xfrm>
          <a:prstGeom prst="rect">
            <a:avLst/>
          </a:prstGeom>
          <a:solidFill>
            <a:srgbClr val="FFF8F0"/>
          </a:solidFill>
          <a:ln w="19050">
            <a:solidFill>
              <a:srgbClr val="FFE8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63640" y="2560320"/>
            <a:ext cx="562356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2670048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To Do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92240" y="3154680"/>
            <a:ext cx="52578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Paystack live mode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n8n email notifications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Seller magic-link accept/decline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CIPC SA Pty Ltd registration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Sydney, Durban, Bloemfontein nearing threshold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Sydney pipeline: 52/60 sellers confirmed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53080"/>
          </a:solidFill>
          <a:ln w="12700">
            <a:solidFill>
              <a:srgbClr val="2530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0" y="24688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8-Week Roadmap to Wave 1 Public Launch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06040" y="1115568"/>
            <a:ext cx="9308592" cy="384048"/>
          </a:xfrm>
          <a:prstGeom prst="rect">
            <a:avLst/>
          </a:prstGeom>
          <a:solidFill>
            <a:srgbClr val="2A3A8A"/>
          </a:solidFill>
          <a:ln w="12700">
            <a:solidFill>
              <a:srgbClr val="2A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06040" y="1152144"/>
            <a:ext cx="11635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769614" y="1152144"/>
            <a:ext cx="11635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3188" y="1152144"/>
            <a:ext cx="11635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6762" y="1152144"/>
            <a:ext cx="11635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60336" y="1152144"/>
            <a:ext cx="11635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23910" y="1152144"/>
            <a:ext cx="11635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587484" y="1152144"/>
            <a:ext cx="11635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751058" y="1152144"/>
            <a:ext cx="11635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" y="1609344"/>
            <a:ext cx="11960352" cy="658368"/>
          </a:xfrm>
          <a:prstGeom prst="rect">
            <a:avLst/>
          </a:prstGeom>
          <a:solidFill>
            <a:srgbClr val="253080"/>
          </a:solidFill>
          <a:ln w="12700">
            <a:solidFill>
              <a:srgbClr val="2530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6642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660904" y="1737360"/>
            <a:ext cx="2217420" cy="40233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60904" y="1737360"/>
            <a:ext cx="22174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W1–W2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2395728"/>
            <a:ext cx="11960352" cy="658368"/>
          </a:xfrm>
          <a:prstGeom prst="rect">
            <a:avLst/>
          </a:prstGeom>
          <a:solidFill>
            <a:srgbClr val="2A3A8A"/>
          </a:solidFill>
          <a:ln w="12700">
            <a:solidFill>
              <a:srgbClr val="2A3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4505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Pipeline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824478" y="2523744"/>
            <a:ext cx="4544568" cy="40233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24478" y="2523744"/>
            <a:ext cx="4544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W2–W5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8600" y="3182112"/>
            <a:ext cx="11960352" cy="658368"/>
          </a:xfrm>
          <a:prstGeom prst="rect">
            <a:avLst/>
          </a:prstGeom>
          <a:solidFill>
            <a:srgbClr val="253080"/>
          </a:solidFill>
          <a:ln w="12700">
            <a:solidFill>
              <a:srgbClr val="2530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23697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Live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88052" y="3310128"/>
            <a:ext cx="2217420" cy="402336"/>
          </a:xfrm>
          <a:prstGeom prst="rect">
            <a:avLst/>
          </a:prstGeom>
          <a:solidFill>
            <a:srgbClr val="E8616A"/>
          </a:solidFill>
          <a:ln w="12700">
            <a:solidFill>
              <a:srgbClr val="E861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8052" y="3310128"/>
            <a:ext cx="22174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W3–W4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28600" y="3968496"/>
            <a:ext cx="11960352" cy="658368"/>
          </a:xfrm>
          <a:prstGeom prst="rect">
            <a:avLst/>
          </a:prstGeom>
          <a:solidFill>
            <a:srgbClr val="2A3A8A"/>
          </a:solidFill>
          <a:ln w="12700">
            <a:solidFill>
              <a:srgbClr val="2A3A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0233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Pre-Launch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0" y="4096512"/>
            <a:ext cx="2217420" cy="40233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0" y="4096512"/>
            <a:ext cx="22174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W5–W6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28600" y="4754880"/>
            <a:ext cx="11960352" cy="658368"/>
          </a:xfrm>
          <a:prstGeom prst="rect">
            <a:avLst/>
          </a:prstGeom>
          <a:solidFill>
            <a:srgbClr val="253080"/>
          </a:solidFill>
          <a:ln w="12700">
            <a:solidFill>
              <a:srgbClr val="2530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80974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Launch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642348" y="4882896"/>
            <a:ext cx="2217420" cy="402336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42348" y="4882896"/>
            <a:ext cx="22174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W7–W8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651760" y="1115568"/>
            <a:ext cx="0" cy="4297680"/>
          </a:xfrm>
          <a:prstGeom prst="line">
            <a:avLst/>
          </a:prstGeom>
          <a:noFill/>
          <a:ln w="31750">
            <a:solidFill>
              <a:srgbClr val="E8616A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2331720" y="15179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28600" y="5550408"/>
            <a:ext cx="11960352" cy="621792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21349" y="558698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8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◆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84923" y="558698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Sellers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Soft Launch ◆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875645" y="558698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◆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616A"/>
          </a:solidFill>
          <a:ln w="12700">
            <a:solidFill>
              <a:srgbClr val="E861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 to Launch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0" y="2560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blockers that gate soft-launch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4068" y="1188720"/>
            <a:ext cx="3474720" cy="411480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4068" y="1188720"/>
            <a:ext cx="3474720" cy="73152"/>
          </a:xfrm>
          <a:prstGeom prst="rect">
            <a:avLst/>
          </a:prstGeom>
          <a:solidFill>
            <a:srgbClr val="E8616A"/>
          </a:solidFill>
          <a:ln w="12700">
            <a:solidFill>
              <a:srgbClr val="E861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69948" y="1353312"/>
            <a:ext cx="822960" cy="822960"/>
          </a:xfrm>
          <a:prstGeom prst="ellipse">
            <a:avLst/>
          </a:prstGeom>
          <a:solidFill>
            <a:srgbClr val="E8616A"/>
          </a:solidFill>
          <a:ln w="12700">
            <a:solidFill>
              <a:srgbClr val="E861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69948" y="13533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26948" y="235915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CIPC Registration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2668" y="310896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Unblocks Paystack live mode.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action — already in progress.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completion: 2–4 weeks.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57116" y="1188720"/>
            <a:ext cx="3474720" cy="411480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57116" y="1188720"/>
            <a:ext cx="347472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82996" y="1353312"/>
            <a:ext cx="822960" cy="8229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82996" y="13533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539996" y="235915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Founding Sellers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85716" y="310896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more sellers needed in Pretoria.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Masoushka + n8n SellerScraper pipeline.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city going public.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70164" y="1188720"/>
            <a:ext cx="3474720" cy="411480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70164" y="1188720"/>
            <a:ext cx="347472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044" y="1353312"/>
            <a:ext cx="822960" cy="8229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96044" y="13533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353044" y="235915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Email Notifications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98764" y="310896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must receive intro requests.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N8N_WEBHOOK_NEW_INTRO env var + workflow.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real marketplace usage.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0040" y="5623560"/>
            <a:ext cx="11548872" cy="548640"/>
          </a:xfrm>
          <a:prstGeom prst="rect">
            <a:avLst/>
          </a:prstGeom>
          <a:solidFill>
            <a:srgbClr val="FFF3CD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5660136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blockers must be resolved before soft-launch can proceed.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4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080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Pipeline · Launch Status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96000" y="1020000"/>
            <a:ext cx="50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MET  ●  5 CITIES</a:t>
            </a:r>
            <a:endParaRPr lang="en-US" sz="1300" dirty="0"/>
          </a:p>
        </p:txBody>
      </p:sp>
      <p:sp>
        <p:nvSpPr>
          <p:cNvPr id="10" name="Card1Bg"/>
          <p:cNvSpPr/>
          <p:nvPr/>
        </p:nvSpPr>
        <p:spPr>
          <a:xfrm>
            <a:off x="296000" y="1290000"/>
            <a:ext cx="2180000" cy="1350000"/>
          </a:xfrm>
          <a:prstGeom prst="rect">
            <a:avLst/>
          </a:prstGeom>
          <a:solidFill>
            <a:srgbClr val="1E2F6B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11" name="Card1TopBar"/>
          <p:cNvSpPr/>
          <p:nvPr/>
        </p:nvSpPr>
        <p:spPr>
          <a:xfrm>
            <a:off x="296000" y="1290000"/>
            <a:ext cx="2180000" cy="5715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2" name="Card1Text"/>
          <p:cNvSpPr/>
          <p:nvPr/>
        </p:nvSpPr>
        <p:spPr>
          <a:xfrm>
            <a:off x="296000" y="1347150"/>
            <a:ext cx="2180000" cy="129285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Pretoria · ZA</a:t>
            </a:r>
            <a:endParaRPr lang="en-US" sz="22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62/60</a:t>
            </a:r>
            <a:endParaRPr lang="en-US" sz="2600" dirty="0"/>
          </a:p>
        </p:txBody>
      </p:sp>
      <p:sp>
        <p:nvSpPr>
          <p:cNvPr id="20" name="Card2Bg"/>
          <p:cNvSpPr/>
          <p:nvPr/>
        </p:nvSpPr>
        <p:spPr>
          <a:xfrm>
            <a:off x="2586000" y="1290000"/>
            <a:ext cx="2180000" cy="1350000"/>
          </a:xfrm>
          <a:prstGeom prst="rect">
            <a:avLst/>
          </a:prstGeom>
          <a:solidFill>
            <a:srgbClr val="1E2F6B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21" name="Card2TopBar"/>
          <p:cNvSpPr/>
          <p:nvPr/>
        </p:nvSpPr>
        <p:spPr>
          <a:xfrm>
            <a:off x="2586000" y="1290000"/>
            <a:ext cx="2180000" cy="5715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Card2Text"/>
          <p:cNvSpPr/>
          <p:nvPr/>
        </p:nvSpPr>
        <p:spPr>
          <a:xfrm>
            <a:off x="2586000" y="1347150"/>
            <a:ext cx="2180000" cy="129285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 · US</a:t>
            </a:r>
            <a:endParaRPr lang="en-US" sz="22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60/60</a:t>
            </a:r>
            <a:endParaRPr lang="en-US" sz="2600" dirty="0"/>
          </a:p>
        </p:txBody>
      </p:sp>
      <p:sp>
        <p:nvSpPr>
          <p:cNvPr id="30" name="Card3Bg"/>
          <p:cNvSpPr/>
          <p:nvPr/>
        </p:nvSpPr>
        <p:spPr>
          <a:xfrm>
            <a:off x="4876000" y="1290000"/>
            <a:ext cx="2180000" cy="1350000"/>
          </a:xfrm>
          <a:prstGeom prst="rect">
            <a:avLst/>
          </a:prstGeom>
          <a:solidFill>
            <a:srgbClr val="1E2F6B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31" name="Card3TopBar"/>
          <p:cNvSpPr/>
          <p:nvPr/>
        </p:nvSpPr>
        <p:spPr>
          <a:xfrm>
            <a:off x="4876000" y="1290000"/>
            <a:ext cx="2180000" cy="5715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2" name="Card3Text"/>
          <p:cNvSpPr/>
          <p:nvPr/>
        </p:nvSpPr>
        <p:spPr>
          <a:xfrm>
            <a:off x="4876000" y="1347150"/>
            <a:ext cx="2180000" cy="129285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· GB</a:t>
            </a:r>
            <a:endParaRPr lang="en-US" sz="22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63/60</a:t>
            </a:r>
            <a:endParaRPr lang="en-US" sz="2600" dirty="0"/>
          </a:p>
        </p:txBody>
      </p:sp>
      <p:sp>
        <p:nvSpPr>
          <p:cNvPr id="40" name="Card4Bg"/>
          <p:cNvSpPr/>
          <p:nvPr/>
        </p:nvSpPr>
        <p:spPr>
          <a:xfrm>
            <a:off x="7166000" y="1290000"/>
            <a:ext cx="2180000" cy="1350000"/>
          </a:xfrm>
          <a:prstGeom prst="rect">
            <a:avLst/>
          </a:prstGeom>
          <a:solidFill>
            <a:srgbClr val="1E2F6B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41" name="Card4TopBar"/>
          <p:cNvSpPr/>
          <p:nvPr/>
        </p:nvSpPr>
        <p:spPr>
          <a:xfrm>
            <a:off x="7166000" y="1290000"/>
            <a:ext cx="2180000" cy="5715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2" name="Card4Text"/>
          <p:cNvSpPr/>
          <p:nvPr/>
        </p:nvSpPr>
        <p:spPr>
          <a:xfrm>
            <a:off x="7166000" y="1347150"/>
            <a:ext cx="2180000" cy="129285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 Town · ZA</a:t>
            </a:r>
            <a:endParaRPr lang="en-US" sz="22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65/60</a:t>
            </a:r>
            <a:endParaRPr lang="en-US" sz="2600" dirty="0"/>
          </a:p>
        </p:txBody>
      </p:sp>
      <p:sp>
        <p:nvSpPr>
          <p:cNvPr id="50" name="Card5Bg"/>
          <p:cNvSpPr/>
          <p:nvPr/>
        </p:nvSpPr>
        <p:spPr>
          <a:xfrm>
            <a:off x="9456000" y="1290000"/>
            <a:ext cx="2440000" cy="1350000"/>
          </a:xfrm>
          <a:prstGeom prst="rect">
            <a:avLst/>
          </a:prstGeom>
          <a:solidFill>
            <a:srgbClr val="1E2F6B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51" name="Card5TopBar"/>
          <p:cNvSpPr/>
          <p:nvPr/>
        </p:nvSpPr>
        <p:spPr>
          <a:xfrm>
            <a:off x="9456000" y="1290000"/>
            <a:ext cx="2440000" cy="5715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2" name="Card5Text"/>
          <p:cNvSpPr/>
          <p:nvPr/>
        </p:nvSpPr>
        <p:spPr>
          <a:xfrm>
            <a:off x="9456000" y="1347150"/>
            <a:ext cx="2440000" cy="129285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Johannesburg · ZA</a:t>
            </a:r>
            <a:endParaRPr lang="en-US" sz="22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63/60</a:t>
            </a:r>
            <a:endParaRPr lang="en-US" sz="2600" dirty="0"/>
          </a:p>
        </p:txBody>
      </p:sp>
      <p:sp>
        <p:nvSpPr>
          <p:cNvPr id="60" name="Text 4"/>
          <p:cNvSpPr/>
          <p:nvPr/>
        </p:nvSpPr>
        <p:spPr>
          <a:xfrm>
            <a:off x="296000" y="2740000"/>
            <a:ext cx="40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300" dirty="0"/>
          </a:p>
        </p:txBody>
      </p:sp>
      <p:sp>
        <p:nvSpPr>
          <p:cNvPr id="100" name="Row1Bg"/>
          <p:cNvSpPr/>
          <p:nvPr/>
        </p:nvSpPr>
        <p:spPr>
          <a:xfrm>
            <a:off x="296000" y="2990000"/>
            <a:ext cx="11600000" cy="370000"/>
          </a:xfrm>
          <a:prstGeom prst="rect">
            <a:avLst/>
          </a:prstGeom>
          <a:solidFill>
            <a:srgbClr val="1A2456"/>
          </a:solidFill>
          <a:ln w="0">
            <a:noFill/>
          </a:ln>
        </p:spPr>
      </p:sp>
      <p:sp>
        <p:nvSpPr>
          <p:cNvPr id="101" name="Row1Name"/>
          <p:cNvSpPr/>
          <p:nvPr/>
        </p:nvSpPr>
        <p:spPr>
          <a:xfrm>
            <a:off x="320000" y="2990000"/>
            <a:ext cx="2000000" cy="3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Durban · ZA</a:t>
            </a:r>
            <a:endParaRPr lang="en-US" sz="1300" dirty="0"/>
          </a:p>
        </p:txBody>
      </p:sp>
      <p:sp>
        <p:nvSpPr>
          <p:cNvPr id="102" name="Row1BarBg"/>
          <p:cNvSpPr/>
          <p:nvPr/>
        </p:nvSpPr>
        <p:spPr>
          <a:xfrm>
            <a:off x="2500000" y="3080000"/>
            <a:ext cx="8500000" cy="185000"/>
          </a:xfrm>
          <a:prstGeom prst="rect">
            <a:avLst/>
          </a:prstGeom>
          <a:solidFill>
            <a:srgbClr val="253080"/>
          </a:solidFill>
          <a:ln w="0">
            <a:noFill/>
          </a:ln>
        </p:spPr>
      </p:sp>
      <p:sp>
        <p:nvSpPr>
          <p:cNvPr id="103" name="Row1BarFill"/>
          <p:cNvSpPr/>
          <p:nvPr/>
        </p:nvSpPr>
        <p:spPr>
          <a:xfrm>
            <a:off x="2500000" y="3080000"/>
            <a:ext cx="8245000" cy="185000"/>
          </a:xfrm>
          <a:prstGeom prst="rect">
            <a:avLst/>
          </a:prstGeom>
          <a:solidFill>
            <a:srgbClr val="4A90D9"/>
          </a:solidFill>
          <a:ln w="0">
            <a:noFill/>
          </a:ln>
        </p:spPr>
      </p:sp>
      <p:sp>
        <p:nvSpPr>
          <p:cNvPr id="104" name="Row1Count"/>
          <p:cNvSpPr/>
          <p:nvPr/>
        </p:nvSpPr>
        <p:spPr>
          <a:xfrm>
            <a:off x="11100000" y="2990000"/>
            <a:ext cx="800000" cy="3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58/60</a:t>
            </a:r>
            <a:endParaRPr lang="en-US" sz="1200" dirty="0"/>
          </a:p>
        </p:txBody>
      </p:sp>
      <p:sp>
        <p:nvSpPr>
          <p:cNvPr id="110" name="Row2Bg"/>
          <p:cNvSpPr/>
          <p:nvPr/>
        </p:nvSpPr>
        <p:spPr>
          <a:xfrm>
            <a:off x="296000" y="3390000"/>
            <a:ext cx="11600000" cy="3700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</p:sp>
      <p:sp>
        <p:nvSpPr>
          <p:cNvPr id="111" name="Row2Name"/>
          <p:cNvSpPr/>
          <p:nvPr/>
        </p:nvSpPr>
        <p:spPr>
          <a:xfrm>
            <a:off x="320000" y="3390000"/>
            <a:ext cx="2000000" cy="3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Sydney · AU</a:t>
            </a:r>
            <a:endParaRPr lang="en-US" sz="1300" dirty="0"/>
          </a:p>
        </p:txBody>
      </p:sp>
      <p:sp>
        <p:nvSpPr>
          <p:cNvPr id="112" name="Row2BarBg"/>
          <p:cNvSpPr/>
          <p:nvPr/>
        </p:nvSpPr>
        <p:spPr>
          <a:xfrm>
            <a:off x="2500000" y="3480000"/>
            <a:ext cx="8500000" cy="185000"/>
          </a:xfrm>
          <a:prstGeom prst="rect">
            <a:avLst/>
          </a:prstGeom>
          <a:solidFill>
            <a:srgbClr val="253080"/>
          </a:solidFill>
          <a:ln w="0">
            <a:noFill/>
          </a:ln>
        </p:spPr>
      </p:sp>
      <p:sp>
        <p:nvSpPr>
          <p:cNvPr id="113" name="Row2BarFill"/>
          <p:cNvSpPr/>
          <p:nvPr/>
        </p:nvSpPr>
        <p:spPr>
          <a:xfrm>
            <a:off x="2500000" y="3480000"/>
            <a:ext cx="7395000" cy="185000"/>
          </a:xfrm>
          <a:prstGeom prst="rect">
            <a:avLst/>
          </a:prstGeom>
          <a:solidFill>
            <a:srgbClr val="4A90D9"/>
          </a:solidFill>
          <a:ln w="0">
            <a:noFill/>
          </a:ln>
        </p:spPr>
      </p:sp>
      <p:sp>
        <p:nvSpPr>
          <p:cNvPr id="114" name="Row2Count"/>
          <p:cNvSpPr/>
          <p:nvPr/>
        </p:nvSpPr>
        <p:spPr>
          <a:xfrm>
            <a:off x="11100000" y="3390000"/>
            <a:ext cx="800000" cy="3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52/60</a:t>
            </a:r>
            <a:endParaRPr lang="en-US" sz="1200" dirty="0"/>
          </a:p>
        </p:txBody>
      </p:sp>
      <p:sp>
        <p:nvSpPr>
          <p:cNvPr id="120" name="Row3Bg"/>
          <p:cNvSpPr/>
          <p:nvPr/>
        </p:nvSpPr>
        <p:spPr>
          <a:xfrm>
            <a:off x="296000" y="3790000"/>
            <a:ext cx="11600000" cy="370000"/>
          </a:xfrm>
          <a:prstGeom prst="rect">
            <a:avLst/>
          </a:prstGeom>
          <a:solidFill>
            <a:srgbClr val="1A2456"/>
          </a:solidFill>
          <a:ln w="0">
            <a:noFill/>
          </a:ln>
        </p:spPr>
      </p:sp>
      <p:sp>
        <p:nvSpPr>
          <p:cNvPr id="121" name="Row3Name"/>
          <p:cNvSpPr/>
          <p:nvPr/>
        </p:nvSpPr>
        <p:spPr>
          <a:xfrm>
            <a:off x="320000" y="3790000"/>
            <a:ext cx="2000000" cy="3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Bloemfontein · ZA</a:t>
            </a:r>
            <a:endParaRPr lang="en-US" sz="1300" dirty="0"/>
          </a:p>
        </p:txBody>
      </p:sp>
      <p:sp>
        <p:nvSpPr>
          <p:cNvPr id="122" name="Row3BarBg"/>
          <p:cNvSpPr/>
          <p:nvPr/>
        </p:nvSpPr>
        <p:spPr>
          <a:xfrm>
            <a:off x="2500000" y="3880000"/>
            <a:ext cx="8500000" cy="185000"/>
          </a:xfrm>
          <a:prstGeom prst="rect">
            <a:avLst/>
          </a:prstGeom>
          <a:solidFill>
            <a:srgbClr val="253080"/>
          </a:solidFill>
          <a:ln w="0">
            <a:noFill/>
          </a:ln>
        </p:spPr>
      </p:sp>
      <p:sp>
        <p:nvSpPr>
          <p:cNvPr id="123" name="Row3BarFill"/>
          <p:cNvSpPr/>
          <p:nvPr/>
        </p:nvSpPr>
        <p:spPr>
          <a:xfrm>
            <a:off x="2500000" y="3880000"/>
            <a:ext cx="7650000" cy="185000"/>
          </a:xfrm>
          <a:prstGeom prst="rect">
            <a:avLst/>
          </a:prstGeom>
          <a:solidFill>
            <a:srgbClr val="4A90D9"/>
          </a:solidFill>
          <a:ln w="0">
            <a:noFill/>
          </a:ln>
        </p:spPr>
      </p:sp>
      <p:sp>
        <p:nvSpPr>
          <p:cNvPr id="124" name="Row3Count"/>
          <p:cNvSpPr/>
          <p:nvPr/>
        </p:nvSpPr>
        <p:spPr>
          <a:xfrm>
            <a:off x="11100000" y="3790000"/>
            <a:ext cx="800000" cy="3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54/60</a:t>
            </a:r>
            <a:endParaRPr lang="en-US" sz="1200" dirty="0"/>
          </a:p>
        </p:txBody>
      </p:sp>
      <p:sp>
        <p:nvSpPr>
          <p:cNvPr id="130" name="Row4Bg"/>
          <p:cNvSpPr/>
          <p:nvPr/>
        </p:nvSpPr>
        <p:spPr>
          <a:xfrm>
            <a:off x="296000" y="4190000"/>
            <a:ext cx="11600000" cy="3700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</p:sp>
      <p:sp>
        <p:nvSpPr>
          <p:cNvPr id="131" name="Row4Name"/>
          <p:cNvSpPr/>
          <p:nvPr/>
        </p:nvSpPr>
        <p:spPr>
          <a:xfrm>
            <a:off x="320000" y="4190000"/>
            <a:ext cx="2000000" cy="3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London · ZA</a:t>
            </a:r>
            <a:endParaRPr lang="en-US" sz="1300" dirty="0"/>
          </a:p>
        </p:txBody>
      </p:sp>
      <p:sp>
        <p:nvSpPr>
          <p:cNvPr id="132" name="Row4BarBg"/>
          <p:cNvSpPr/>
          <p:nvPr/>
        </p:nvSpPr>
        <p:spPr>
          <a:xfrm>
            <a:off x="2500000" y="4280000"/>
            <a:ext cx="8500000" cy="185000"/>
          </a:xfrm>
          <a:prstGeom prst="rect">
            <a:avLst/>
          </a:prstGeom>
          <a:solidFill>
            <a:srgbClr val="253080"/>
          </a:solidFill>
          <a:ln w="0">
            <a:noFill/>
          </a:ln>
        </p:spPr>
      </p:sp>
      <p:sp>
        <p:nvSpPr>
          <p:cNvPr id="133" name="Row4BarFill"/>
          <p:cNvSpPr/>
          <p:nvPr/>
        </p:nvSpPr>
        <p:spPr>
          <a:xfrm>
            <a:off x="2500000" y="4280000"/>
            <a:ext cx="6630000" cy="185000"/>
          </a:xfrm>
          <a:prstGeom prst="rect">
            <a:avLst/>
          </a:prstGeom>
          <a:solidFill>
            <a:srgbClr val="4A90D9"/>
          </a:solidFill>
          <a:ln w="0">
            <a:noFill/>
          </a:ln>
        </p:spPr>
      </p:sp>
      <p:sp>
        <p:nvSpPr>
          <p:cNvPr id="134" name="Row4Count"/>
          <p:cNvSpPr/>
          <p:nvPr/>
        </p:nvSpPr>
        <p:spPr>
          <a:xfrm>
            <a:off x="11100000" y="4190000"/>
            <a:ext cx="800000" cy="3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47/60</a:t>
            </a:r>
            <a:endParaRPr lang="en-US" sz="1200" dirty="0"/>
          </a:p>
        </p:txBody>
      </p:sp>
      <p:sp>
        <p:nvSpPr>
          <p:cNvPr id="140" name="Row5Bg"/>
          <p:cNvSpPr/>
          <p:nvPr/>
        </p:nvSpPr>
        <p:spPr>
          <a:xfrm>
            <a:off x="296000" y="4590000"/>
            <a:ext cx="11600000" cy="370000"/>
          </a:xfrm>
          <a:prstGeom prst="rect">
            <a:avLst/>
          </a:prstGeom>
          <a:solidFill>
            <a:srgbClr val="1A2456"/>
          </a:solidFill>
          <a:ln w="0">
            <a:noFill/>
          </a:ln>
        </p:spPr>
      </p:sp>
      <p:sp>
        <p:nvSpPr>
          <p:cNvPr id="141" name="Row5Name"/>
          <p:cNvSpPr/>
          <p:nvPr/>
        </p:nvSpPr>
        <p:spPr>
          <a:xfrm>
            <a:off x="320000" y="4590000"/>
            <a:ext cx="2000000" cy="3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Elizabeth · ZA</a:t>
            </a:r>
            <a:endParaRPr lang="en-US" sz="1300" dirty="0"/>
          </a:p>
        </p:txBody>
      </p:sp>
      <p:sp>
        <p:nvSpPr>
          <p:cNvPr id="142" name="Row5BarBg"/>
          <p:cNvSpPr/>
          <p:nvPr/>
        </p:nvSpPr>
        <p:spPr>
          <a:xfrm>
            <a:off x="2500000" y="4680000"/>
            <a:ext cx="8500000" cy="185000"/>
          </a:xfrm>
          <a:prstGeom prst="rect">
            <a:avLst/>
          </a:prstGeom>
          <a:solidFill>
            <a:srgbClr val="253080"/>
          </a:solidFill>
          <a:ln w="0">
            <a:noFill/>
          </a:ln>
        </p:spPr>
      </p:sp>
      <p:sp>
        <p:nvSpPr>
          <p:cNvPr id="143" name="Row5BarFill"/>
          <p:cNvSpPr/>
          <p:nvPr/>
        </p:nvSpPr>
        <p:spPr>
          <a:xfrm>
            <a:off x="2500000" y="4680000"/>
            <a:ext cx="5695000" cy="185000"/>
          </a:xfrm>
          <a:prstGeom prst="rect">
            <a:avLst/>
          </a:prstGeom>
          <a:solidFill>
            <a:srgbClr val="4A90D9"/>
          </a:solidFill>
          <a:ln w="0">
            <a:noFill/>
          </a:ln>
        </p:spPr>
      </p:sp>
      <p:sp>
        <p:nvSpPr>
          <p:cNvPr id="144" name="Row5Count"/>
          <p:cNvSpPr/>
          <p:nvPr/>
        </p:nvSpPr>
        <p:spPr>
          <a:xfrm>
            <a:off x="11100000" y="4590000"/>
            <a:ext cx="800000" cy="3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40/60</a:t>
            </a:r>
            <a:endParaRPr lang="en-US" sz="1200" dirty="0"/>
          </a:p>
        </p:txBody>
      </p:sp>
      <p:sp>
        <p:nvSpPr>
          <p:cNvPr id="150" name="Row6Bg"/>
          <p:cNvSpPr/>
          <p:nvPr/>
        </p:nvSpPr>
        <p:spPr>
          <a:xfrm>
            <a:off x="296000" y="4990000"/>
            <a:ext cx="11600000" cy="3700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</p:sp>
      <p:sp>
        <p:nvSpPr>
          <p:cNvPr id="151" name="Row6Name"/>
          <p:cNvSpPr/>
          <p:nvPr/>
        </p:nvSpPr>
        <p:spPr>
          <a:xfrm>
            <a:off x="320000" y="4990000"/>
            <a:ext cx="2000000" cy="3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Polokwane · ZA</a:t>
            </a:r>
            <a:endParaRPr lang="en-US" sz="1300" dirty="0"/>
          </a:p>
        </p:txBody>
      </p:sp>
      <p:sp>
        <p:nvSpPr>
          <p:cNvPr id="152" name="Row6BarBg"/>
          <p:cNvSpPr/>
          <p:nvPr/>
        </p:nvSpPr>
        <p:spPr>
          <a:xfrm>
            <a:off x="2500000" y="5080000"/>
            <a:ext cx="8500000" cy="185000"/>
          </a:xfrm>
          <a:prstGeom prst="rect">
            <a:avLst/>
          </a:prstGeom>
          <a:solidFill>
            <a:srgbClr val="253080"/>
          </a:solidFill>
          <a:ln w="0">
            <a:noFill/>
          </a:ln>
        </p:spPr>
      </p:sp>
      <p:sp>
        <p:nvSpPr>
          <p:cNvPr id="153" name="Row6BarFill"/>
          <p:cNvSpPr/>
          <p:nvPr/>
        </p:nvSpPr>
        <p:spPr>
          <a:xfrm>
            <a:off x="2500000" y="5080000"/>
            <a:ext cx="1955000" cy="185000"/>
          </a:xfrm>
          <a:prstGeom prst="rect">
            <a:avLst/>
          </a:prstGeom>
          <a:solidFill>
            <a:srgbClr val="4A90D9"/>
          </a:solidFill>
          <a:ln w="0">
            <a:noFill/>
          </a:ln>
        </p:spPr>
      </p:sp>
      <p:sp>
        <p:nvSpPr>
          <p:cNvPr id="154" name="Row6Count"/>
          <p:cNvSpPr/>
          <p:nvPr/>
        </p:nvSpPr>
        <p:spPr>
          <a:xfrm>
            <a:off x="11100000" y="4990000"/>
            <a:ext cx="800000" cy="3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14/60</a:t>
            </a:r>
            <a:endParaRPr lang="en-US" sz="1200" dirty="0"/>
          </a:p>
        </p:txBody>
      </p:sp>
      <p:sp>
        <p:nvSpPr>
          <p:cNvPr id="200" name="Footer"/>
          <p:cNvSpPr/>
          <p:nvPr/>
        </p:nvSpPr>
        <p:spPr>
          <a:xfrm>
            <a:off x="296000" y="5450000"/>
            <a:ext cx="116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city launches publicly once it hits 60 founding sellers. KPI auto-triggers public visibility on trustsquare.co/launch/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Readiness · Go/No-Go Criteria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3566160" cy="544068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356616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20700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4632" y="1700784"/>
            <a:ext cx="3236976" cy="0"/>
          </a:xfrm>
          <a:prstGeom prst="line">
            <a:avLst/>
          </a:prstGeom>
          <a:noFill/>
          <a:ln w="12700">
            <a:solidFill>
              <a:srgbClr val="D1D9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10512"/>
            <a:ext cx="3291840" cy="493776"/>
          </a:xfrm>
          <a:prstGeom prst="rect">
            <a:avLst/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938528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847088"/>
            <a:ext cx="2907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 backend stable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359152"/>
            <a:ext cx="3291840" cy="493776"/>
          </a:xfrm>
          <a:prstGeom prst="rect">
            <a:avLst/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487168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395728"/>
            <a:ext cx="2907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flow end-to-end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2907792"/>
            <a:ext cx="3291840" cy="493776"/>
          </a:xfrm>
          <a:prstGeom prst="rect">
            <a:avLst/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035808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944368"/>
            <a:ext cx="2907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upload + storage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3456432"/>
            <a:ext cx="3291840" cy="493776"/>
          </a:xfrm>
          <a:prstGeom prst="rect">
            <a:avLst/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584448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493008"/>
            <a:ext cx="2907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Score system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005072"/>
            <a:ext cx="3291840" cy="493776"/>
          </a:xfrm>
          <a:prstGeom prst="rect">
            <a:avLst/>
          </a:prstGeom>
          <a:solidFill>
            <a:srgbClr val="FFF9EC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133088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041648"/>
            <a:ext cx="2907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email notifications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" y="4553712"/>
            <a:ext cx="3291840" cy="493776"/>
          </a:xfrm>
          <a:prstGeom prst="rect">
            <a:avLst/>
          </a:prstGeom>
          <a:solidFill>
            <a:srgbClr val="FFF9EC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681728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590288"/>
            <a:ext cx="2907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magic-link accept/decline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57200" y="5102352"/>
            <a:ext cx="3291840" cy="493776"/>
          </a:xfrm>
          <a:prstGeom prst="rect">
            <a:avLst/>
          </a:prstGeom>
          <a:solidFill>
            <a:srgbClr val="FFF9EC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5230368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138928"/>
            <a:ext cx="2907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billing active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151376" y="1097280"/>
            <a:ext cx="3566160" cy="544068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51376" y="1097280"/>
            <a:ext cx="356616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15968" y="120700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15968" y="1700784"/>
            <a:ext cx="3236976" cy="0"/>
          </a:xfrm>
          <a:prstGeom prst="line">
            <a:avLst/>
          </a:prstGeom>
          <a:noFill/>
          <a:ln w="12700">
            <a:solidFill>
              <a:srgbClr val="D1D9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88536" y="1810512"/>
            <a:ext cx="3291840" cy="493776"/>
          </a:xfrm>
          <a:prstGeom prst="rect">
            <a:avLst/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79976" y="1938528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54296" y="1847088"/>
            <a:ext cx="2907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Paystack test mode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288536" y="2359152"/>
            <a:ext cx="3291840" cy="493776"/>
          </a:xfrm>
          <a:prstGeom prst="rect">
            <a:avLst/>
          </a:prstGeom>
          <a:solidFill>
            <a:srgbClr val="FFF9EC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79976" y="2487168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54296" y="2395728"/>
            <a:ext cx="2907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CIPC registration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288536" y="2907792"/>
            <a:ext cx="3291840" cy="493776"/>
          </a:xfrm>
          <a:prstGeom prst="rect">
            <a:avLst/>
          </a:prstGeom>
          <a:solidFill>
            <a:srgbClr val="FFF9EC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79976" y="3035808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54296" y="2944368"/>
            <a:ext cx="2907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Paystack live mode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4288536" y="3456432"/>
            <a:ext cx="3291840" cy="493776"/>
          </a:xfrm>
          <a:prstGeom prst="rect">
            <a:avLst/>
          </a:prstGeom>
          <a:solidFill>
            <a:srgbClr val="FFF9EC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379976" y="3584448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54296" y="3493008"/>
            <a:ext cx="2907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entity (NY/LON/SYD)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7982712" y="1097280"/>
            <a:ext cx="3566160" cy="544068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982712" y="1097280"/>
            <a:ext cx="356616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47304" y="120700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147304" y="1700784"/>
            <a:ext cx="3236976" cy="0"/>
          </a:xfrm>
          <a:prstGeom prst="line">
            <a:avLst/>
          </a:prstGeom>
          <a:noFill/>
          <a:ln w="12700">
            <a:solidFill>
              <a:srgbClr val="D1D9E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119872" y="1810512"/>
            <a:ext cx="3291840" cy="493776"/>
          </a:xfrm>
          <a:prstGeom prst="rect">
            <a:avLst/>
          </a:prstGeom>
          <a:solidFill>
            <a:srgbClr val="FFF9EC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11312" y="1938528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85632" y="1847088"/>
            <a:ext cx="2907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founding sellers (Pretoria)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8119872" y="2359152"/>
            <a:ext cx="3291840" cy="493776"/>
          </a:xfrm>
          <a:prstGeom prst="rect">
            <a:avLst/>
          </a:prstGeom>
          <a:solidFill>
            <a:srgbClr val="FFF9EC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211312" y="2487168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485632" y="2395728"/>
            <a:ext cx="2907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sellers each (NY · LON · SYD)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8119872" y="2907792"/>
            <a:ext cx="3291840" cy="493776"/>
          </a:xfrm>
          <a:prstGeom prst="rect">
            <a:avLst/>
          </a:prstGeom>
          <a:solidFill>
            <a:srgbClr val="FFF9EC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211312" y="3035808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485632" y="2944368"/>
            <a:ext cx="2907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listing content + photos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A50"/>
          </a:solidFill>
          <a:ln w="12700">
            <a:solidFill>
              <a:srgbClr val="111A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5720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Day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0" y="1883664"/>
            <a:ext cx="3959352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13532" y="3794760"/>
            <a:ext cx="201168" cy="91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0916" y="2011680"/>
            <a:ext cx="2606040" cy="3657600"/>
          </a:xfrm>
          <a:prstGeom prst="rect">
            <a:avLst/>
          </a:prstGeom>
          <a:solidFill>
            <a:srgbClr val="253080"/>
          </a:solidFill>
          <a:ln w="12700">
            <a:solidFill>
              <a:srgbClr val="2A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" y="2011680"/>
            <a:ext cx="260604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" y="21488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745236" y="2907792"/>
            <a:ext cx="2057400" cy="0"/>
          </a:xfrm>
          <a:prstGeom prst="line">
            <a:avLst/>
          </a:prstGeom>
          <a:noFill/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" y="301752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fires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sellers confirmed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4 cities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93892" y="3794760"/>
            <a:ext cx="201168" cy="91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51276" y="2011680"/>
            <a:ext cx="2606040" cy="3657600"/>
          </a:xfrm>
          <a:prstGeom prst="rect">
            <a:avLst/>
          </a:prstGeom>
          <a:solidFill>
            <a:srgbClr val="253080"/>
          </a:solidFill>
          <a:ln w="12700">
            <a:solidFill>
              <a:srgbClr val="2A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51276" y="2011680"/>
            <a:ext cx="260604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1276" y="21488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3625596" y="2907792"/>
            <a:ext cx="2057400" cy="0"/>
          </a:xfrm>
          <a:prstGeom prst="line">
            <a:avLst/>
          </a:prstGeom>
          <a:noFill/>
          <a:ln w="12700">
            <a:solidFill>
              <a:srgbClr val="4A9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88436" y="301752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Paystack live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1T intro fees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charged to buyers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874252" y="3794760"/>
            <a:ext cx="201168" cy="91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31636" y="2011680"/>
            <a:ext cx="2606040" cy="3657600"/>
          </a:xfrm>
          <a:prstGeom prst="rect">
            <a:avLst/>
          </a:prstGeom>
          <a:solidFill>
            <a:srgbClr val="253080"/>
          </a:solidFill>
          <a:ln w="12700">
            <a:solidFill>
              <a:srgbClr val="2A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31636" y="2011680"/>
            <a:ext cx="260604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31636" y="21488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23" name="Shape 21"/>
          <p:cNvSpPr/>
          <p:nvPr/>
        </p:nvSpPr>
        <p:spPr>
          <a:xfrm>
            <a:off x="6505956" y="2907792"/>
            <a:ext cx="2057400" cy="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68796" y="301752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alerts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&amp; sellers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notified automatically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111996" y="2011680"/>
            <a:ext cx="2606040" cy="3657600"/>
          </a:xfrm>
          <a:prstGeom prst="rect">
            <a:avLst/>
          </a:prstGeom>
          <a:solidFill>
            <a:srgbClr val="253080"/>
          </a:solidFill>
          <a:ln w="12700">
            <a:solidFill>
              <a:srgbClr val="2A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111996" y="2011680"/>
            <a:ext cx="2606040" cy="73152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11996" y="21488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28" name="Shape 26"/>
          <p:cNvSpPr/>
          <p:nvPr/>
        </p:nvSpPr>
        <p:spPr>
          <a:xfrm>
            <a:off x="9386316" y="2907792"/>
            <a:ext cx="2057400" cy="0"/>
          </a:xfrm>
          <a:prstGeom prst="line">
            <a:avLst/>
          </a:prstGeom>
          <a:noFill/>
          <a:ln w="12700">
            <a:solidFill>
              <a:srgbClr val="F1C40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49156" y="301752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CityLauncher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live cities shown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trustsquare.co/launch/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A0F30"/>
          </a:solidFill>
          <a:ln w="12700">
            <a:solidFill>
              <a:srgbClr val="0A0F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2636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trustsquare.co  ·  The trusted anonymous marketplace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>
            <a:spLocks noGrp="1"/>
          </p:cNvSpPr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141E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>
            <a:spLocks noGrp="1"/>
          </p:cNvSpPr>
          <p:nvPr/>
        </p:nvSpPr>
        <p:spPr>
          <a:xfrm>
            <a:off x="228600" y="91440"/>
            <a:ext cx="6858000" cy="54864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/>
              </a:rPr>
              <a:t>Trust Score System</a:t>
            </a:r>
          </a:p>
        </p:txBody>
      </p:sp>
      <p:sp>
        <p:nvSpPr>
          <p:cNvPr id="4" name="Subtitle"/>
          <p:cNvSpPr txBox="1">
            <a:spLocks noGrp="1"/>
          </p:cNvSpPr>
          <p:nvPr/>
        </p:nvSpPr>
        <p:spPr>
          <a:xfrm>
            <a:off x="6858000" y="91440"/>
            <a:ext cx="5105400" cy="548640"/>
          </a:xfrm>
          <a:prstGeom prst="rect">
            <a:avLst/>
          </a:prstGeom>
          <a:noFill/>
        </p:spPr>
        <p:txBody>
          <a:bodyPr anchor="ctr"/>
          <a:lstStyle/>
          <a:p>
            <a:pPr algn="r"/>
            <a:r>
              <a:rPr lang="en-US" sz="1300" dirty="0">
                <a:solidFill>
                  <a:srgbClr val="A0AABF"/>
                </a:solidFill>
                <a:latin typeface="Calibri"/>
              </a:rPr>
              <a:t>How buyers earn and maintain seller trust</a:t>
            </a:r>
          </a:p>
        </p:txBody>
      </p:sp>
      <p:sp>
        <p:nvSpPr>
          <p:cNvPr id="5" name="HeaderRule"/>
          <p:cNvSpPr>
            <a:spLocks noGrp="1"/>
          </p:cNvSpPr>
          <p:nvPr/>
        </p:nvSpPr>
        <p:spPr>
          <a:xfrm>
            <a:off x="0" y="731520"/>
            <a:ext cx="12192000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ZoneBHeader"/>
          <p:cNvSpPr txBox="1">
            <a:spLocks noGrp="1"/>
          </p:cNvSpPr>
          <p:nvPr/>
        </p:nvSpPr>
        <p:spPr>
          <a:xfrm>
            <a:off x="152400" y="807624"/>
            <a:ext cx="2590800" cy="18018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1100" b="1" dirty="0">
                <a:solidFill>
                  <a:srgbClr val="A0AABF"/>
                </a:solidFill>
                <a:latin typeface="Calibri"/>
              </a:rPr>
              <a:t>TRUST TIERS</a:t>
            </a:r>
          </a:p>
        </p:txBody>
      </p:sp>
      <p:sp>
        <p:nvSpPr>
          <p:cNvPr id="7" name="Tier1Bg"/>
          <p:cNvSpPr>
            <a:spLocks noGrp="1"/>
          </p:cNvSpPr>
          <p:nvPr/>
        </p:nvSpPr>
        <p:spPr>
          <a:xfrm>
            <a:off x="152400" y="987552"/>
            <a:ext cx="2590800" cy="920000"/>
          </a:xfrm>
          <a:prstGeom prst="rect">
            <a:avLst/>
          </a:prstGeom>
          <a:solidFill>
            <a:srgbClr val="1A23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Tier1Accent"/>
          <p:cNvSpPr>
            <a:spLocks noGrp="1"/>
          </p:cNvSpPr>
          <p:nvPr/>
        </p:nvSpPr>
        <p:spPr>
          <a:xfrm>
            <a:off x="152400" y="987552"/>
            <a:ext cx="54864" cy="920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ier1Text"/>
          <p:cNvSpPr txBox="1">
            <a:spLocks noGrp="1"/>
          </p:cNvSpPr>
          <p:nvPr/>
        </p:nvSpPr>
        <p:spPr>
          <a:xfrm>
            <a:off x="228600" y="987552"/>
            <a:ext cx="2514600" cy="920000"/>
          </a:xfrm>
          <a:prstGeom prst="rect">
            <a:avLst/>
          </a:prstGeom>
          <a:noFill/>
        </p:spPr>
        <p:txBody>
          <a:bodyPr anchor="ctr" wrap="square"/>
          <a:lstStyle/>
          <a:p>
            <a:r>
              <a:rPr lang="en-US" sz="1400" b="1" dirty="0">
                <a:solidFill>
                  <a:srgbClr val="FFD700"/>
                </a:solidFill>
                <a:latin typeface="Calibri"/>
              </a:rPr>
              <a:t>Highly Trusted</a:t>
            </a:r>
          </a:p>
          <a:p>
            <a:r>
              <a:rPr lang="en-US" sz="1200" dirty="0">
                <a:solidFill>
                  <a:srgbClr val="A0AABF"/>
                </a:solidFill>
                <a:latin typeface="Calibri"/>
              </a:rPr>
              <a:t>Score 90–100 · Gold Badge</a:t>
            </a:r>
          </a:p>
          <a:p>
            <a:r>
              <a:rPr lang="en-US" sz="1100" dirty="0">
                <a:solidFill>
                  <a:srgbClr val="8892A4"/>
                </a:solidFill>
                <a:latin typeface="Calibri"/>
              </a:rPr>
              <a:t>Priority listing · discounted commission</a:t>
            </a:r>
          </a:p>
        </p:txBody>
      </p:sp>
      <p:sp>
        <p:nvSpPr>
          <p:cNvPr id="10" name="Tier2Bg"/>
          <p:cNvSpPr>
            <a:spLocks noGrp="1"/>
          </p:cNvSpPr>
          <p:nvPr/>
        </p:nvSpPr>
        <p:spPr>
          <a:xfrm>
            <a:off x="152400" y="1937552"/>
            <a:ext cx="2590800" cy="920000"/>
          </a:xfrm>
          <a:prstGeom prst="rect">
            <a:avLst/>
          </a:prstGeom>
          <a:solidFill>
            <a:srgbClr val="1A23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ier2Accent"/>
          <p:cNvSpPr>
            <a:spLocks noGrp="1"/>
          </p:cNvSpPr>
          <p:nvPr/>
        </p:nvSpPr>
        <p:spPr>
          <a:xfrm>
            <a:off x="152400" y="1937552"/>
            <a:ext cx="54864" cy="920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ier2Text"/>
          <p:cNvSpPr txBox="1">
            <a:spLocks noGrp="1"/>
          </p:cNvSpPr>
          <p:nvPr/>
        </p:nvSpPr>
        <p:spPr>
          <a:xfrm>
            <a:off x="228600" y="1937552"/>
            <a:ext cx="2514600" cy="920000"/>
          </a:xfrm>
          <a:prstGeom prst="rect">
            <a:avLst/>
          </a:prstGeom>
          <a:noFill/>
        </p:spPr>
        <p:txBody>
          <a:bodyPr anchor="ctr" wrap="square"/>
          <a:lstStyle/>
          <a:p>
            <a:r>
              <a:rPr lang="en-US" sz="1400" b="1" dirty="0">
                <a:solidFill>
                  <a:srgbClr val="00C9A7"/>
                </a:solidFill>
                <a:latin typeface="Calibri"/>
              </a:rPr>
              <a:t>Trusted</a:t>
            </a:r>
          </a:p>
          <a:p>
            <a:r>
              <a:rPr lang="en-US" sz="1200" dirty="0">
                <a:solidFill>
                  <a:srgbClr val="A0AABF"/>
                </a:solidFill>
                <a:latin typeface="Calibri"/>
              </a:rPr>
              <a:t>Score 70–89 · Green Badge</a:t>
            </a:r>
          </a:p>
          <a:p>
            <a:r>
              <a:rPr lang="en-US" sz="1100" dirty="0">
                <a:solidFill>
                  <a:srgbClr val="8892A4"/>
                </a:solidFill>
                <a:latin typeface="Calibri"/>
              </a:rPr>
              <a:t>Standard listing · full features</a:t>
            </a:r>
          </a:p>
        </p:txBody>
      </p:sp>
      <p:sp>
        <p:nvSpPr>
          <p:cNvPr id="13" name="Tier3Bg"/>
          <p:cNvSpPr>
            <a:spLocks noGrp="1"/>
          </p:cNvSpPr>
          <p:nvPr/>
        </p:nvSpPr>
        <p:spPr>
          <a:xfrm>
            <a:off x="152400" y="2887552"/>
            <a:ext cx="2590800" cy="920000"/>
          </a:xfrm>
          <a:prstGeom prst="rect">
            <a:avLst/>
          </a:prstGeom>
          <a:solidFill>
            <a:srgbClr val="1A23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Tier3Accent"/>
          <p:cNvSpPr>
            <a:spLocks noGrp="1"/>
          </p:cNvSpPr>
          <p:nvPr/>
        </p:nvSpPr>
        <p:spPr>
          <a:xfrm>
            <a:off x="152400" y="2887552"/>
            <a:ext cx="54864" cy="92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Tier3Text"/>
          <p:cNvSpPr txBox="1">
            <a:spLocks noGrp="1"/>
          </p:cNvSpPr>
          <p:nvPr/>
        </p:nvSpPr>
        <p:spPr>
          <a:xfrm>
            <a:off x="228600" y="2887552"/>
            <a:ext cx="2514600" cy="920000"/>
          </a:xfrm>
          <a:prstGeom prst="rect">
            <a:avLst/>
          </a:prstGeom>
          <a:noFill/>
        </p:spPr>
        <p:txBody>
          <a:bodyPr anchor="ctr" wrap="square"/>
          <a:lstStyle/>
          <a:p>
            <a:r>
              <a:rPr lang="en-US" sz="1400" b="1" dirty="0">
                <a:solidFill>
                  <a:srgbClr val="4472C4"/>
                </a:solidFill>
                <a:latin typeface="Calibri"/>
              </a:rPr>
              <a:t>Established</a:t>
            </a:r>
          </a:p>
          <a:p>
            <a:r>
              <a:rPr lang="en-US" sz="1200" dirty="0">
                <a:solidFill>
                  <a:srgbClr val="A0AABF"/>
                </a:solidFill>
                <a:latin typeface="Calibri"/>
              </a:rPr>
              <a:t>Score 40–69 · Blue Badge</a:t>
            </a:r>
          </a:p>
          <a:p>
            <a:r>
              <a:rPr lang="en-US" sz="1100" dirty="0">
                <a:solidFill>
                  <a:srgbClr val="8892A4"/>
                </a:solidFill>
                <a:latin typeface="Calibri"/>
              </a:rPr>
              <a:t>Building reputation · limited boosts</a:t>
            </a:r>
          </a:p>
        </p:txBody>
      </p:sp>
      <p:sp>
        <p:nvSpPr>
          <p:cNvPr id="16" name="Tier4Bg"/>
          <p:cNvSpPr>
            <a:spLocks noGrp="1"/>
          </p:cNvSpPr>
          <p:nvPr/>
        </p:nvSpPr>
        <p:spPr>
          <a:xfrm>
            <a:off x="152400" y="3837552"/>
            <a:ext cx="2590800" cy="920000"/>
          </a:xfrm>
          <a:prstGeom prst="rect">
            <a:avLst/>
          </a:prstGeom>
          <a:solidFill>
            <a:srgbClr val="1A23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Tier4Accent"/>
          <p:cNvSpPr>
            <a:spLocks noGrp="1"/>
          </p:cNvSpPr>
          <p:nvPr/>
        </p:nvSpPr>
        <p:spPr>
          <a:xfrm>
            <a:off x="152400" y="3837552"/>
            <a:ext cx="54864" cy="920000"/>
          </a:xfrm>
          <a:prstGeom prst="rect">
            <a:avLst/>
          </a:prstGeom>
          <a:solidFill>
            <a:srgbClr val="8892A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Tier4Text"/>
          <p:cNvSpPr txBox="1">
            <a:spLocks noGrp="1"/>
          </p:cNvSpPr>
          <p:nvPr/>
        </p:nvSpPr>
        <p:spPr>
          <a:xfrm>
            <a:off x="228600" y="3837552"/>
            <a:ext cx="2514600" cy="920000"/>
          </a:xfrm>
          <a:prstGeom prst="rect">
            <a:avLst/>
          </a:prstGeom>
          <a:noFill/>
        </p:spPr>
        <p:txBody>
          <a:bodyPr anchor="ctr" wrap="square"/>
          <a:lstStyle/>
          <a:p>
            <a:r>
              <a:rPr lang="en-US" sz="1400" b="1" dirty="0">
                <a:solidFill>
                  <a:srgbClr val="8892A4"/>
                </a:solidFill>
                <a:latin typeface="Calibri"/>
              </a:rPr>
              <a:t>New</a:t>
            </a:r>
          </a:p>
          <a:p>
            <a:r>
              <a:rPr lang="en-US" sz="1200" dirty="0">
                <a:solidFill>
                  <a:srgbClr val="A0AABF"/>
                </a:solidFill>
                <a:latin typeface="Calibri"/>
              </a:rPr>
              <a:t>Score 0–39 · No Badge</a:t>
            </a:r>
          </a:p>
          <a:p>
            <a:r>
              <a:rPr lang="en-US" sz="1100" dirty="0">
                <a:solidFill>
                  <a:srgbClr val="8892A4"/>
                </a:solidFill>
                <a:latin typeface="Calibri"/>
              </a:rPr>
              <a:t>Unverified · restricted access</a:t>
            </a:r>
          </a:p>
        </p:txBody>
      </p:sp>
      <p:sp>
        <p:nvSpPr>
          <p:cNvPr id="19" name="PenaltiesBg"/>
          <p:cNvSpPr>
            <a:spLocks noGrp="1"/>
          </p:cNvSpPr>
          <p:nvPr/>
        </p:nvSpPr>
        <p:spPr>
          <a:xfrm>
            <a:off x="152400" y="4787552"/>
            <a:ext cx="2590800" cy="600000"/>
          </a:xfrm>
          <a:prstGeom prst="rect">
            <a:avLst/>
          </a:prstGeom>
          <a:solidFill>
            <a:srgbClr val="2C1A1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PenaltiesAccent"/>
          <p:cNvSpPr>
            <a:spLocks noGrp="1"/>
          </p:cNvSpPr>
          <p:nvPr/>
        </p:nvSpPr>
        <p:spPr>
          <a:xfrm>
            <a:off x="152400" y="4787552"/>
            <a:ext cx="54864" cy="600000"/>
          </a:xfrm>
          <a:prstGeom prst="rect">
            <a:avLst/>
          </a:prstGeom>
          <a:solidFill>
            <a:srgbClr val="E8616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PenaltiesText"/>
          <p:cNvSpPr txBox="1">
            <a:spLocks noGrp="1"/>
          </p:cNvSpPr>
          <p:nvPr/>
        </p:nvSpPr>
        <p:spPr>
          <a:xfrm>
            <a:off x="228600" y="4787552"/>
            <a:ext cx="2514600" cy="600000"/>
          </a:xfrm>
          <a:prstGeom prst="rect">
            <a:avLst/>
          </a:prstGeom>
          <a:noFill/>
        </p:spPr>
        <p:txBody>
          <a:bodyPr anchor="ctr" wrap="square"/>
          <a:lstStyle/>
          <a:p>
            <a:r>
              <a:rPr lang="en-US" sz="1300" b="1" dirty="0">
                <a:solidFill>
                  <a:srgbClr val="E8616A"/>
                </a:solidFill>
                <a:latin typeface="Calibri"/>
              </a:rPr>
              <a:t>Penalties</a:t>
            </a:r>
          </a:p>
          <a:p>
            <a:r>
              <a:rPr lang="en-US" sz="1100" dirty="0">
                <a:solidFill>
                  <a:srgbClr val="A0AABF"/>
                </a:solidFill>
                <a:latin typeface="Calibri"/>
              </a:rPr>
              <a:t>Dispute lost: -10 pts</a:t>
            </a:r>
          </a:p>
          <a:p>
            <a:r>
              <a:rPr lang="en-US" sz="1100" dirty="0">
                <a:solidFill>
                  <a:srgbClr val="A0AABF"/>
                </a:solidFill>
                <a:latin typeface="Calibri"/>
              </a:rPr>
              <a:t>No-show: -5 pts · Fraud: -25 pts</a:t>
            </a:r>
          </a:p>
        </p:txBody>
      </p:sp>
      <p:sp>
        <p:nvSpPr>
          <p:cNvPr id="22" name="Col1HeaderBg"/>
          <p:cNvSpPr>
            <a:spLocks noGrp="1"/>
          </p:cNvSpPr>
          <p:nvPr/>
        </p:nvSpPr>
        <p:spPr>
          <a:xfrm>
            <a:off x="2834640" y="807624"/>
            <a:ext cx="2917584" cy="7315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Col1TopAccent"/>
          <p:cNvSpPr>
            <a:spLocks noGrp="1"/>
          </p:cNvSpPr>
          <p:nvPr/>
        </p:nvSpPr>
        <p:spPr>
          <a:xfrm>
            <a:off x="2834640" y="807624"/>
            <a:ext cx="2917584" cy="457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Col1HeaderText"/>
          <p:cNvSpPr txBox="1">
            <a:spLocks noGrp="1"/>
          </p:cNvSpPr>
          <p:nvPr/>
        </p:nvSpPr>
        <p:spPr>
          <a:xfrm>
            <a:off x="2834640" y="807624"/>
            <a:ext cx="2917584" cy="73152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Universal Score</a:t>
            </a:r>
          </a:p>
          <a:p>
            <a:pPr algn="ctr"/>
            <a:r>
              <a:rPr lang="en-US" sz="1100" dirty="0">
                <a:solidFill>
                  <a:srgbClr val="A0AABF"/>
                </a:solidFill>
                <a:latin typeface="Calibri"/>
              </a:rPr>
              <a:t>30 pts total · All categories</a:t>
            </a:r>
          </a:p>
        </p:txBody>
      </p:sp>
      <p:sp>
        <p:nvSpPr>
          <p:cNvPr id="25" name="Col1Row1Bg"/>
          <p:cNvSpPr>
            <a:spLocks noGrp="1"/>
          </p:cNvSpPr>
          <p:nvPr/>
        </p:nvSpPr>
        <p:spPr>
          <a:xfrm>
            <a:off x="2834640" y="1627632"/>
            <a:ext cx="2917584" cy="923040"/>
          </a:xfrm>
          <a:prstGeom prst="rect">
            <a:avLst/>
          </a:prstGeom>
          <a:solidFill>
            <a:srgbClr val="1A23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Col1Row1Text"/>
          <p:cNvSpPr txBox="1">
            <a:spLocks noGrp="1"/>
          </p:cNvSpPr>
          <p:nvPr/>
        </p:nvSpPr>
        <p:spPr>
          <a:xfrm>
            <a:off x="2880360" y="1627632"/>
            <a:ext cx="2871864" cy="923040"/>
          </a:xfrm>
          <a:prstGeom prst="rect">
            <a:avLst/>
          </a:prstGeom>
          <a:noFill/>
        </p:spPr>
        <p:txBody>
          <a:bodyPr anchor="ctr" wrap="square"/>
          <a:lstStyle/>
          <a:p>
            <a:pPr>
              <a:tabLst>
                <a:tab pos="2743200" algn="r"/>
              </a:tabLst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Verified Identity</a:t>
            </a:r>
            <a:r>
              <a:rPr lang="en-US" sz="1200" dirty="0" xml:space="preserve">
                <a:solidFill>
                  <a:srgbClr val="4472C4"/>
                </a:solidFill>
                <a:latin typeface="Calibri"/>
              </a:rPr>
              <a:t>	+20</a:t>
            </a:r>
          </a:p>
          <a:p>
            <a:r>
              <a:rPr lang="en-US" sz="1000" dirty="0">
                <a:solidFill>
                  <a:srgbClr val="8892A4"/>
                </a:solidFill>
                <a:latin typeface="Calibri"/>
              </a:rPr>
              <a:t>ID verified by admin</a:t>
            </a:r>
          </a:p>
        </p:txBody>
      </p:sp>
      <p:sp>
        <p:nvSpPr>
          <p:cNvPr id="27" name="Col1Row2Bg"/>
          <p:cNvSpPr>
            <a:spLocks noGrp="1"/>
          </p:cNvSpPr>
          <p:nvPr/>
        </p:nvSpPr>
        <p:spPr>
          <a:xfrm>
            <a:off x="2834640" y="2596512"/>
            <a:ext cx="2917584" cy="923040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Col1Row2Text"/>
          <p:cNvSpPr txBox="1">
            <a:spLocks noGrp="1"/>
          </p:cNvSpPr>
          <p:nvPr/>
        </p:nvSpPr>
        <p:spPr>
          <a:xfrm>
            <a:off x="2880360" y="2596512"/>
            <a:ext cx="2871864" cy="923040"/>
          </a:xfrm>
          <a:prstGeom prst="rect">
            <a:avLst/>
          </a:prstGeom>
          <a:noFill/>
        </p:spPr>
        <p:txBody>
          <a:bodyPr anchor="ctr" wrap="square"/>
          <a:lstStyle/>
          <a:p>
            <a:pPr>
              <a:tabLst>
                <a:tab pos="2743200" algn="r"/>
              </a:tabLst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Profile Complete</a:t>
            </a:r>
            <a:r>
              <a:rPr lang="en-US" sz="1200" dirty="0" xml:space="preserve">
                <a:solidFill>
                  <a:srgbClr val="4472C4"/>
                </a:solidFill>
                <a:latin typeface="Calibri"/>
              </a:rPr>
              <a:t>	+15</a:t>
            </a:r>
          </a:p>
          <a:p>
            <a:r>
              <a:rPr lang="en-US" sz="1000" dirty="0">
                <a:solidFill>
                  <a:srgbClr val="8892A4"/>
                </a:solidFill>
                <a:latin typeface="Calibri"/>
              </a:rPr>
              <a:t>Photo, bio, contact filled</a:t>
            </a:r>
          </a:p>
        </p:txBody>
      </p:sp>
      <p:sp>
        <p:nvSpPr>
          <p:cNvPr id="29" name="Col1Row3Bg"/>
          <p:cNvSpPr>
            <a:spLocks noGrp="1"/>
          </p:cNvSpPr>
          <p:nvPr/>
        </p:nvSpPr>
        <p:spPr>
          <a:xfrm>
            <a:off x="2834640" y="3565392"/>
            <a:ext cx="2917584" cy="923040"/>
          </a:xfrm>
          <a:prstGeom prst="rect">
            <a:avLst/>
          </a:prstGeom>
          <a:solidFill>
            <a:srgbClr val="1A23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Col1Row3Text"/>
          <p:cNvSpPr txBox="1">
            <a:spLocks noGrp="1"/>
          </p:cNvSpPr>
          <p:nvPr/>
        </p:nvSpPr>
        <p:spPr>
          <a:xfrm>
            <a:off x="2880360" y="3565392"/>
            <a:ext cx="2871864" cy="923040"/>
          </a:xfrm>
          <a:prstGeom prst="rect">
            <a:avLst/>
          </a:prstGeom>
          <a:noFill/>
        </p:spPr>
        <p:txBody>
          <a:bodyPr anchor="ctr" wrap="square"/>
          <a:lstStyle/>
          <a:p>
            <a:pPr>
              <a:tabLst>
                <a:tab pos="2743200" algn="r"/>
              </a:tabLst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Payment Method</a:t>
            </a:r>
            <a:r>
              <a:rPr lang="en-US" sz="1200" dirty="0" xml:space="preserve">
                <a:solidFill>
                  <a:srgbClr val="4472C4"/>
                </a:solidFill>
                <a:latin typeface="Calibri"/>
              </a:rPr>
              <a:t>	+10</a:t>
            </a:r>
          </a:p>
          <a:p>
            <a:r>
              <a:rPr lang="en-US" sz="1000" dirty="0">
                <a:solidFill>
                  <a:srgbClr val="8892A4"/>
                </a:solidFill>
                <a:latin typeface="Calibri"/>
              </a:rPr>
              <a:t>Bank / card linked</a:t>
            </a:r>
          </a:p>
        </p:txBody>
      </p:sp>
      <p:sp>
        <p:nvSpPr>
          <p:cNvPr id="31" name="Col1Row4Bg"/>
          <p:cNvSpPr>
            <a:spLocks noGrp="1"/>
          </p:cNvSpPr>
          <p:nvPr/>
        </p:nvSpPr>
        <p:spPr>
          <a:xfrm>
            <a:off x="2834640" y="4534272"/>
            <a:ext cx="2917584" cy="923040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Col1Row4Text"/>
          <p:cNvSpPr txBox="1">
            <a:spLocks noGrp="1"/>
          </p:cNvSpPr>
          <p:nvPr/>
        </p:nvSpPr>
        <p:spPr>
          <a:xfrm>
            <a:off x="2880360" y="4534272"/>
            <a:ext cx="2871864" cy="923040"/>
          </a:xfrm>
          <a:prstGeom prst="rect">
            <a:avLst/>
          </a:prstGeom>
          <a:noFill/>
        </p:spPr>
        <p:txBody>
          <a:bodyPr anchor="ctr" wrap="square"/>
          <a:lstStyle/>
          <a:p>
            <a:pPr>
              <a:tabLst>
                <a:tab pos="2743200" algn="r"/>
              </a:tabLst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Active Subscription</a:t>
            </a:r>
            <a:r>
              <a:rPr lang="en-US" sz="1200" dirty="0" xml:space="preserve">
                <a:solidFill>
                  <a:srgbClr val="4472C4"/>
                </a:solidFill>
                <a:latin typeface="Calibri"/>
              </a:rPr>
              <a:t>	+5</a:t>
            </a:r>
          </a:p>
          <a:p>
            <a:r>
              <a:rPr lang="en-US" sz="1000" dirty="0">
                <a:solidFill>
                  <a:srgbClr val="8892A4"/>
                </a:solidFill>
                <a:latin typeface="Calibri"/>
              </a:rPr>
              <a:t>Paid plan active</a:t>
            </a:r>
          </a:p>
        </p:txBody>
      </p:sp>
      <p:sp>
        <p:nvSpPr>
          <p:cNvPr id="33" name="Col1ProgressBg"/>
          <p:cNvSpPr>
            <a:spLocks noGrp="1"/>
          </p:cNvSpPr>
          <p:nvPr/>
        </p:nvSpPr>
        <p:spPr>
          <a:xfrm>
            <a:off x="2834640" y="5563800"/>
            <a:ext cx="2917584" cy="9144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Col1ProgressFill"/>
          <p:cNvSpPr>
            <a:spLocks noGrp="1"/>
          </p:cNvSpPr>
          <p:nvPr/>
        </p:nvSpPr>
        <p:spPr>
          <a:xfrm>
            <a:off x="2834640" y="5563800"/>
            <a:ext cx="875275" cy="914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" name="Col2HeaderBg"/>
          <p:cNvSpPr>
            <a:spLocks noGrp="1"/>
          </p:cNvSpPr>
          <p:nvPr/>
        </p:nvSpPr>
        <p:spPr>
          <a:xfrm>
            <a:off x="5916384" y="807624"/>
            <a:ext cx="2917584" cy="731520"/>
          </a:xfrm>
          <a:prstGeom prst="rect">
            <a:avLst/>
          </a:prstGeom>
          <a:solidFill>
            <a:srgbClr val="2D1B5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7" name="Col2TopAccent"/>
          <p:cNvSpPr>
            <a:spLocks noGrp="1"/>
          </p:cNvSpPr>
          <p:nvPr/>
        </p:nvSpPr>
        <p:spPr>
          <a:xfrm>
            <a:off x="5916384" y="807624"/>
            <a:ext cx="2917584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8" name="Col2HeaderText"/>
          <p:cNvSpPr txBox="1">
            <a:spLocks noGrp="1"/>
          </p:cNvSpPr>
          <p:nvPr/>
        </p:nvSpPr>
        <p:spPr>
          <a:xfrm>
            <a:off x="5916384" y="807624"/>
            <a:ext cx="2917584" cy="73152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Track Record</a:t>
            </a:r>
          </a:p>
          <a:p>
            <a:pPr algn="ctr"/>
            <a:r>
              <a:rPr lang="en-US" sz="1100" dirty="0">
                <a:solidFill>
                  <a:srgbClr val="A0AABF"/>
                </a:solidFill>
                <a:latin typeface="Calibri"/>
              </a:rPr>
              <a:t>30 pts total · Transaction history</a:t>
            </a:r>
          </a:p>
        </p:txBody>
      </p:sp>
      <p:sp>
        <p:nvSpPr>
          <p:cNvPr id="39" name="Col2Row1Bg"/>
          <p:cNvSpPr>
            <a:spLocks noGrp="1"/>
          </p:cNvSpPr>
          <p:nvPr/>
        </p:nvSpPr>
        <p:spPr>
          <a:xfrm>
            <a:off x="5916384" y="1627632"/>
            <a:ext cx="2917584" cy="923040"/>
          </a:xfrm>
          <a:prstGeom prst="rect">
            <a:avLst/>
          </a:prstGeom>
          <a:solidFill>
            <a:srgbClr val="1A23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Col2Row1Text"/>
          <p:cNvSpPr txBox="1">
            <a:spLocks noGrp="1"/>
          </p:cNvSpPr>
          <p:nvPr/>
        </p:nvSpPr>
        <p:spPr>
          <a:xfrm>
            <a:off x="5962104" y="1627632"/>
            <a:ext cx="2871864" cy="923040"/>
          </a:xfrm>
          <a:prstGeom prst="rect">
            <a:avLst/>
          </a:prstGeom>
          <a:noFill/>
        </p:spPr>
        <p:txBody>
          <a:bodyPr anchor="ctr" wrap="square"/>
          <a:lstStyle/>
          <a:p>
            <a:pPr>
              <a:tabLst>
                <a:tab pos="2743200" algn="r"/>
              </a:tabLst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Successful Txns</a:t>
            </a:r>
            <a:r>
              <a:rPr lang="en-US" sz="1200" dirty="0" xml:space="preserve">
                <a:solidFill>
                  <a:srgbClr val="9B59B6"/>
                </a:solidFill>
                <a:latin typeface="Calibri"/>
              </a:rPr>
              <a:t>	+15</a:t>
            </a:r>
          </a:p>
          <a:p>
            <a:r>
              <a:rPr lang="en-US" sz="1000" dirty="0">
                <a:solidFill>
                  <a:srgbClr val="8892A4"/>
                </a:solidFill>
                <a:latin typeface="Calibri"/>
              </a:rPr>
              <a:t>10+ completed deals</a:t>
            </a:r>
          </a:p>
        </p:txBody>
      </p:sp>
      <p:sp>
        <p:nvSpPr>
          <p:cNvPr id="41" name="Col2Row2Bg"/>
          <p:cNvSpPr>
            <a:spLocks noGrp="1"/>
          </p:cNvSpPr>
          <p:nvPr/>
        </p:nvSpPr>
        <p:spPr>
          <a:xfrm>
            <a:off x="5916384" y="2596512"/>
            <a:ext cx="2917584" cy="923040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Col2Row2Text"/>
          <p:cNvSpPr txBox="1">
            <a:spLocks noGrp="1"/>
          </p:cNvSpPr>
          <p:nvPr/>
        </p:nvSpPr>
        <p:spPr>
          <a:xfrm>
            <a:off x="5962104" y="2596512"/>
            <a:ext cx="2871864" cy="923040"/>
          </a:xfrm>
          <a:prstGeom prst="rect">
            <a:avLst/>
          </a:prstGeom>
          <a:noFill/>
        </p:spPr>
        <p:txBody>
          <a:bodyPr anchor="ctr" wrap="square"/>
          <a:lstStyle/>
          <a:p>
            <a:pPr>
              <a:tabLst>
                <a:tab pos="2743200" algn="r"/>
              </a:tabLst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Positive Reviews</a:t>
            </a:r>
            <a:r>
              <a:rPr lang="en-US" sz="1200" dirty="0" xml:space="preserve">
                <a:solidFill>
                  <a:srgbClr val="9B59B6"/>
                </a:solidFill>
                <a:latin typeface="Calibri"/>
              </a:rPr>
              <a:t>	+10</a:t>
            </a:r>
          </a:p>
          <a:p>
            <a:r>
              <a:rPr lang="en-US" sz="1000" dirty="0">
                <a:solidFill>
                  <a:srgbClr val="8892A4"/>
                </a:solidFill>
                <a:latin typeface="Calibri"/>
              </a:rPr>
              <a:t>4.5+ star average</a:t>
            </a:r>
          </a:p>
        </p:txBody>
      </p:sp>
      <p:sp>
        <p:nvSpPr>
          <p:cNvPr id="43" name="Col2Row3Bg"/>
          <p:cNvSpPr>
            <a:spLocks noGrp="1"/>
          </p:cNvSpPr>
          <p:nvPr/>
        </p:nvSpPr>
        <p:spPr>
          <a:xfrm>
            <a:off x="5916384" y="3565392"/>
            <a:ext cx="2917584" cy="923040"/>
          </a:xfrm>
          <a:prstGeom prst="rect">
            <a:avLst/>
          </a:prstGeom>
          <a:solidFill>
            <a:srgbClr val="1A23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" name="Col2Row3Text"/>
          <p:cNvSpPr txBox="1">
            <a:spLocks noGrp="1"/>
          </p:cNvSpPr>
          <p:nvPr/>
        </p:nvSpPr>
        <p:spPr>
          <a:xfrm>
            <a:off x="5962104" y="3565392"/>
            <a:ext cx="2871864" cy="923040"/>
          </a:xfrm>
          <a:prstGeom prst="rect">
            <a:avLst/>
          </a:prstGeom>
          <a:noFill/>
        </p:spPr>
        <p:txBody>
          <a:bodyPr anchor="ctr" wrap="square"/>
          <a:lstStyle/>
          <a:p>
            <a:pPr>
              <a:tabLst>
                <a:tab pos="2743200" algn="r"/>
              </a:tabLst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Response Rate</a:t>
            </a:r>
            <a:r>
              <a:rPr lang="en-US" sz="1200" dirty="0" xml:space="preserve">
                <a:solidFill>
                  <a:srgbClr val="9B59B6"/>
                </a:solidFill>
                <a:latin typeface="Calibri"/>
              </a:rPr>
              <a:t>	+5</a:t>
            </a:r>
          </a:p>
          <a:p>
            <a:r>
              <a:rPr lang="en-US" sz="1000" dirty="0">
                <a:solidFill>
                  <a:srgbClr val="8892A4"/>
                </a:solidFill>
                <a:latin typeface="Calibri"/>
              </a:rPr>
              <a:t>Responds within 24h</a:t>
            </a:r>
          </a:p>
        </p:txBody>
      </p:sp>
      <p:sp>
        <p:nvSpPr>
          <p:cNvPr id="45" name="Col2Row4Bg"/>
          <p:cNvSpPr>
            <a:spLocks noGrp="1"/>
          </p:cNvSpPr>
          <p:nvPr/>
        </p:nvSpPr>
        <p:spPr>
          <a:xfrm>
            <a:off x="5916384" y="4534272"/>
            <a:ext cx="2917584" cy="923040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6" name="Col2Row4Text"/>
          <p:cNvSpPr txBox="1">
            <a:spLocks noGrp="1"/>
          </p:cNvSpPr>
          <p:nvPr/>
        </p:nvSpPr>
        <p:spPr>
          <a:xfrm>
            <a:off x="5962104" y="4534272"/>
            <a:ext cx="2871864" cy="923040"/>
          </a:xfrm>
          <a:prstGeom prst="rect">
            <a:avLst/>
          </a:prstGeom>
          <a:noFill/>
        </p:spPr>
        <p:txBody>
          <a:bodyPr anchor="ctr" wrap="square"/>
          <a:lstStyle/>
          <a:p>
            <a:pPr>
              <a:tabLst>
                <a:tab pos="2743200" algn="r"/>
              </a:tabLst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Account Longevity</a:t>
            </a:r>
            <a:r>
              <a:rPr lang="en-US" sz="1200" dirty="0" xml:space="preserve">
                <a:solidFill>
                  <a:srgbClr val="9B59B6"/>
                </a:solidFill>
                <a:latin typeface="Calibri"/>
              </a:rPr>
              <a:t>	+5</a:t>
            </a:r>
          </a:p>
          <a:p>
            <a:r>
              <a:rPr lang="en-US" sz="1000" dirty="0">
                <a:solidFill>
                  <a:srgbClr val="8892A4"/>
                </a:solidFill>
                <a:latin typeface="Calibri"/>
              </a:rPr>
              <a:t>1+ year active account</a:t>
            </a:r>
          </a:p>
        </p:txBody>
      </p:sp>
      <p:sp>
        <p:nvSpPr>
          <p:cNvPr id="47" name="Col2ProgressBg"/>
          <p:cNvSpPr>
            <a:spLocks noGrp="1"/>
          </p:cNvSpPr>
          <p:nvPr/>
        </p:nvSpPr>
        <p:spPr>
          <a:xfrm>
            <a:off x="5916384" y="5563800"/>
            <a:ext cx="2917584" cy="9144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8" name="Col2ProgressFill"/>
          <p:cNvSpPr>
            <a:spLocks noGrp="1"/>
          </p:cNvSpPr>
          <p:nvPr/>
        </p:nvSpPr>
        <p:spPr>
          <a:xfrm>
            <a:off x="5916384" y="5563800"/>
            <a:ext cx="875275" cy="914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" name="Col3HeaderBg"/>
          <p:cNvSpPr>
            <a:spLocks noGrp="1"/>
          </p:cNvSpPr>
          <p:nvPr/>
        </p:nvSpPr>
        <p:spPr>
          <a:xfrm>
            <a:off x="8998128" y="807624"/>
            <a:ext cx="2965272" cy="731520"/>
          </a:xfrm>
          <a:prstGeom prst="rect">
            <a:avLst/>
          </a:prstGeom>
          <a:solidFill>
            <a:srgbClr val="0A3D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Col3TopAccent"/>
          <p:cNvSpPr>
            <a:spLocks noGrp="1"/>
          </p:cNvSpPr>
          <p:nvPr/>
        </p:nvSpPr>
        <p:spPr>
          <a:xfrm>
            <a:off x="8998128" y="807624"/>
            <a:ext cx="2965272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" name="Col3HeaderText"/>
          <p:cNvSpPr txBox="1">
            <a:spLocks noGrp="1"/>
          </p:cNvSpPr>
          <p:nvPr/>
        </p:nvSpPr>
        <p:spPr>
          <a:xfrm>
            <a:off x="8998128" y="807624"/>
            <a:ext cx="2965272" cy="73152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Category Credentials</a:t>
            </a:r>
          </a:p>
          <a:p>
            <a:pPr algn="ctr"/>
            <a:r>
              <a:rPr lang="en-US" sz="1100" dirty="0">
                <a:solidFill>
                  <a:srgbClr val="A0AABF"/>
                </a:solidFill>
                <a:latin typeface="Calibri"/>
              </a:rPr>
              <a:t>40 pts total · Per category</a:t>
            </a:r>
          </a:p>
        </p:txBody>
      </p:sp>
      <p:sp>
        <p:nvSpPr>
          <p:cNvPr id="53" name="Col3Row1Bg"/>
          <p:cNvSpPr>
            <a:spLocks noGrp="1"/>
          </p:cNvSpPr>
          <p:nvPr/>
        </p:nvSpPr>
        <p:spPr>
          <a:xfrm>
            <a:off x="8998128" y="1627632"/>
            <a:ext cx="2965272" cy="659314"/>
          </a:xfrm>
          <a:prstGeom prst="rect">
            <a:avLst/>
          </a:prstGeom>
          <a:solidFill>
            <a:srgbClr val="1A23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4" name="Col3Row1Text"/>
          <p:cNvSpPr txBox="1">
            <a:spLocks noGrp="1"/>
          </p:cNvSpPr>
          <p:nvPr/>
        </p:nvSpPr>
        <p:spPr>
          <a:xfrm>
            <a:off x="9043848" y="1627632"/>
            <a:ext cx="2919552" cy="659314"/>
          </a:xfrm>
          <a:prstGeom prst="rect">
            <a:avLst/>
          </a:prstGeom>
          <a:noFill/>
        </p:spPr>
        <p:txBody>
          <a:bodyPr anchor="ctr" wrap="square"/>
          <a:lstStyle/>
          <a:p>
            <a:pPr>
              <a:tabLst>
                <a:tab pos="2743200" algn="r"/>
              </a:tabLst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Specialist Badge</a:t>
            </a:r>
            <a:r>
              <a:rPr lang="en-US" sz="1200" dirty="0" xml:space="preserve">
                <a:solidFill>
                  <a:srgbClr val="00C9A7"/>
                </a:solidFill>
                <a:latin typeface="Calibri"/>
              </a:rPr>
              <a:t>	+8</a:t>
            </a:r>
          </a:p>
          <a:p>
            <a:r>
              <a:rPr lang="en-US" sz="1000" dirty="0">
                <a:solidFill>
                  <a:srgbClr val="8892A4"/>
                </a:solidFill>
                <a:latin typeface="Calibri"/>
              </a:rPr>
              <a:t>Admin-verified expertise</a:t>
            </a:r>
          </a:p>
        </p:txBody>
      </p:sp>
      <p:sp>
        <p:nvSpPr>
          <p:cNvPr id="55" name="Col3Row2Bg"/>
          <p:cNvSpPr>
            <a:spLocks noGrp="1"/>
          </p:cNvSpPr>
          <p:nvPr/>
        </p:nvSpPr>
        <p:spPr>
          <a:xfrm>
            <a:off x="8998128" y="2331466"/>
            <a:ext cx="2965272" cy="65931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6" name="Col3Row2Text"/>
          <p:cNvSpPr txBox="1">
            <a:spLocks noGrp="1"/>
          </p:cNvSpPr>
          <p:nvPr/>
        </p:nvSpPr>
        <p:spPr>
          <a:xfrm>
            <a:off x="9043848" y="2331466"/>
            <a:ext cx="2919552" cy="659314"/>
          </a:xfrm>
          <a:prstGeom prst="rect">
            <a:avLst/>
          </a:prstGeom>
          <a:noFill/>
        </p:spPr>
        <p:txBody>
          <a:bodyPr anchor="ctr" wrap="square"/>
          <a:lstStyle/>
          <a:p>
            <a:pPr>
              <a:tabLst>
                <a:tab pos="2743200" algn="r"/>
              </a:tabLst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Category Experience</a:t>
            </a:r>
            <a:r>
              <a:rPr lang="en-US" sz="1200" dirty="0" xml:space="preserve">
                <a:solidFill>
                  <a:srgbClr val="00C9A7"/>
                </a:solidFill>
                <a:latin typeface="Calibri"/>
              </a:rPr>
              <a:t>	+6</a:t>
            </a:r>
          </a:p>
          <a:p>
            <a:r>
              <a:rPr lang="en-US" sz="1000" dirty="0">
                <a:solidFill>
                  <a:srgbClr val="8892A4"/>
                </a:solidFill>
                <a:latin typeface="Calibri"/>
              </a:rPr>
              <a:t>5+ deals in category</a:t>
            </a:r>
          </a:p>
        </p:txBody>
      </p:sp>
      <p:sp>
        <p:nvSpPr>
          <p:cNvPr id="57" name="Col3Row3Bg"/>
          <p:cNvSpPr>
            <a:spLocks noGrp="1"/>
          </p:cNvSpPr>
          <p:nvPr/>
        </p:nvSpPr>
        <p:spPr>
          <a:xfrm>
            <a:off x="8998128" y="3035300"/>
            <a:ext cx="2965272" cy="659314"/>
          </a:xfrm>
          <a:prstGeom prst="rect">
            <a:avLst/>
          </a:prstGeom>
          <a:solidFill>
            <a:srgbClr val="1A23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8" name="Col3Row3Text"/>
          <p:cNvSpPr txBox="1">
            <a:spLocks noGrp="1"/>
          </p:cNvSpPr>
          <p:nvPr/>
        </p:nvSpPr>
        <p:spPr>
          <a:xfrm>
            <a:off x="9043848" y="3035300"/>
            <a:ext cx="2919552" cy="659314"/>
          </a:xfrm>
          <a:prstGeom prst="rect">
            <a:avLst/>
          </a:prstGeom>
          <a:noFill/>
        </p:spPr>
        <p:txBody>
          <a:bodyPr anchor="ctr" wrap="square"/>
          <a:lstStyle/>
          <a:p>
            <a:pPr>
              <a:tabLst>
                <a:tab pos="2743200" algn="r"/>
              </a:tabLst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Category Reviews</a:t>
            </a:r>
            <a:r>
              <a:rPr lang="en-US" sz="1200" dirty="0" xml:space="preserve">
                <a:solidFill>
                  <a:srgbClr val="00C9A7"/>
                </a:solidFill>
                <a:latin typeface="Calibri"/>
              </a:rPr>
              <a:t>	+4</a:t>
            </a:r>
          </a:p>
          <a:p>
            <a:r>
              <a:rPr lang="en-US" sz="1000" dirty="0">
                <a:solidFill>
                  <a:srgbClr val="8892A4"/>
                </a:solidFill>
                <a:latin typeface="Calibri"/>
              </a:rPr>
              <a:t>4.5+ in this category</a:t>
            </a:r>
          </a:p>
        </p:txBody>
      </p:sp>
      <p:sp>
        <p:nvSpPr>
          <p:cNvPr id="59" name="Col3Row4Bg"/>
          <p:cNvSpPr>
            <a:spLocks noGrp="1"/>
          </p:cNvSpPr>
          <p:nvPr/>
        </p:nvSpPr>
        <p:spPr>
          <a:xfrm>
            <a:off x="8998128" y="3739134"/>
            <a:ext cx="2965272" cy="65931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Col3Row4Text"/>
          <p:cNvSpPr txBox="1">
            <a:spLocks noGrp="1"/>
          </p:cNvSpPr>
          <p:nvPr/>
        </p:nvSpPr>
        <p:spPr>
          <a:xfrm>
            <a:off x="9043848" y="3739134"/>
            <a:ext cx="2919552" cy="659314"/>
          </a:xfrm>
          <a:prstGeom prst="rect">
            <a:avLst/>
          </a:prstGeom>
          <a:noFill/>
        </p:spPr>
        <p:txBody>
          <a:bodyPr anchor="ctr" wrap="square"/>
          <a:lstStyle/>
          <a:p>
            <a:pPr>
              <a:tabLst>
                <a:tab pos="2743200" algn="r"/>
              </a:tabLst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Listing Quality</a:t>
            </a:r>
            <a:r>
              <a:rPr lang="en-US" sz="1200" dirty="0" xml:space="preserve">
                <a:solidFill>
                  <a:srgbClr val="00C9A7"/>
                </a:solidFill>
                <a:latin typeface="Calibri"/>
              </a:rPr>
              <a:t>	+2</a:t>
            </a:r>
          </a:p>
          <a:p>
            <a:r>
              <a:rPr lang="en-US" sz="1000" dirty="0">
                <a:solidFill>
                  <a:srgbClr val="8892A4"/>
                </a:solidFill>
                <a:latin typeface="Calibri"/>
              </a:rPr>
              <a:t>Complete photos + description</a:t>
            </a:r>
          </a:p>
        </p:txBody>
      </p:sp>
      <p:sp>
        <p:nvSpPr>
          <p:cNvPr id="61" name="Col3Row5Bg"/>
          <p:cNvSpPr>
            <a:spLocks noGrp="1"/>
          </p:cNvSpPr>
          <p:nvPr/>
        </p:nvSpPr>
        <p:spPr>
          <a:xfrm>
            <a:off x="8998128" y="4442968"/>
            <a:ext cx="2965272" cy="659314"/>
          </a:xfrm>
          <a:prstGeom prst="rect">
            <a:avLst/>
          </a:prstGeom>
          <a:solidFill>
            <a:srgbClr val="1A23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Col3Row5Text"/>
          <p:cNvSpPr txBox="1">
            <a:spLocks noGrp="1"/>
          </p:cNvSpPr>
          <p:nvPr/>
        </p:nvSpPr>
        <p:spPr>
          <a:xfrm>
            <a:off x="9043848" y="4442968"/>
            <a:ext cx="2919552" cy="659314"/>
          </a:xfrm>
          <a:prstGeom prst="rect">
            <a:avLst/>
          </a:prstGeom>
          <a:noFill/>
        </p:spPr>
        <p:txBody>
          <a:bodyPr anchor="ctr" wrap="square"/>
          <a:lstStyle/>
          <a:p>
            <a:pPr>
              <a:tabLst>
                <a:tab pos="2743200" algn="r"/>
              </a:tabLst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Repeat Buyers</a:t>
            </a:r>
            <a:r>
              <a:rPr lang="en-US" sz="1200" dirty="0" xml:space="preserve">
                <a:solidFill>
                  <a:srgbClr val="00C9A7"/>
                </a:solidFill>
                <a:latin typeface="Calibri"/>
              </a:rPr>
              <a:t>	+0</a:t>
            </a:r>
          </a:p>
          <a:p>
            <a:r>
              <a:rPr lang="en-US" sz="1000" dirty="0">
                <a:solidFill>
                  <a:srgbClr val="8892A4"/>
                </a:solidFill>
                <a:latin typeface="Calibri"/>
              </a:rPr>
              <a:t>Loyal buyer base</a:t>
            </a:r>
          </a:p>
        </p:txBody>
      </p:sp>
      <p:sp>
        <p:nvSpPr>
          <p:cNvPr id="63" name="Col3ProgressBg"/>
          <p:cNvSpPr>
            <a:spLocks noGrp="1"/>
          </p:cNvSpPr>
          <p:nvPr/>
        </p:nvSpPr>
        <p:spPr>
          <a:xfrm>
            <a:off x="8998128" y="5563800"/>
            <a:ext cx="2965272" cy="9144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Col3ProgressFill"/>
          <p:cNvSpPr>
            <a:spLocks noGrp="1"/>
          </p:cNvSpPr>
          <p:nvPr/>
        </p:nvSpPr>
        <p:spPr>
          <a:xfrm>
            <a:off x="8998128" y="5563800"/>
            <a:ext cx="1186109" cy="914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6" name="ZoneDStripBg"/>
          <p:cNvSpPr>
            <a:spLocks noGrp="1"/>
          </p:cNvSpPr>
          <p:nvPr/>
        </p:nvSpPr>
        <p:spPr>
          <a:xfrm>
            <a:off x="0" y="5715960"/>
            <a:ext cx="12192000" cy="1142040"/>
          </a:xfrm>
          <a:prstGeom prst="rect">
            <a:avLst/>
          </a:prstGeom>
          <a:solidFill>
            <a:srgbClr val="141E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7" name="Pill1Bg"/>
          <p:cNvSpPr>
            <a:spLocks noGrp="1"/>
          </p:cNvSpPr>
          <p:nvPr/>
        </p:nvSpPr>
        <p:spPr>
          <a:xfrm>
            <a:off x="182880" y="5791800"/>
            <a:ext cx="2133600" cy="45684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8" name="Pill1Accent"/>
          <p:cNvSpPr>
            <a:spLocks noGrp="1"/>
          </p:cNvSpPr>
          <p:nvPr/>
        </p:nvSpPr>
        <p:spPr>
          <a:xfrm>
            <a:off x="182880" y="5791800"/>
            <a:ext cx="45720" cy="4568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9" name="Pill1Text"/>
          <p:cNvSpPr txBox="1">
            <a:spLocks noGrp="1"/>
          </p:cNvSpPr>
          <p:nvPr/>
        </p:nvSpPr>
        <p:spPr>
          <a:xfrm>
            <a:off x="243840" y="5791800"/>
            <a:ext cx="2072640" cy="456840"/>
          </a:xfrm>
          <a:prstGeom prst="rect">
            <a:avLst/>
          </a:prstGeom>
          <a:noFill/>
        </p:spPr>
        <p:txBody>
          <a:bodyPr anchor="ctr" wrap="square"/>
          <a:lstStyle/>
          <a:p>
            <a:r>
              <a:rPr lang="en-US" sz="1100" b="1" dirty="0">
                <a:solidFill>
                  <a:srgbClr val="FFFFFF"/>
                </a:solidFill>
                <a:latin typeface="Calibri"/>
              </a:rPr>
              <a:t>No self-reporting</a:t>
            </a:r>
          </a:p>
          <a:p>
            <a:r>
              <a:rPr lang="en-US" sz="1000" dirty="0">
                <a:solidFill>
                  <a:srgbClr val="A0AABF"/>
                </a:solidFill>
                <a:latin typeface="Calibri"/>
              </a:rPr>
              <a:t>Docs required</a:t>
            </a:r>
          </a:p>
        </p:txBody>
      </p:sp>
      <p:sp>
        <p:nvSpPr>
          <p:cNvPr id="70" name="Pill2Bg"/>
          <p:cNvSpPr>
            <a:spLocks noGrp="1"/>
          </p:cNvSpPr>
          <p:nvPr/>
        </p:nvSpPr>
        <p:spPr>
          <a:xfrm>
            <a:off x="2438400" y="5791800"/>
            <a:ext cx="2133600" cy="45684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1" name="Pill2Accent"/>
          <p:cNvSpPr>
            <a:spLocks noGrp="1"/>
          </p:cNvSpPr>
          <p:nvPr/>
        </p:nvSpPr>
        <p:spPr>
          <a:xfrm>
            <a:off x="2438400" y="5791800"/>
            <a:ext cx="45720" cy="4568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2" name="Pill2Text"/>
          <p:cNvSpPr txBox="1">
            <a:spLocks noGrp="1"/>
          </p:cNvSpPr>
          <p:nvPr/>
        </p:nvSpPr>
        <p:spPr>
          <a:xfrm>
            <a:off x="2499360" y="5791800"/>
            <a:ext cx="2072640" cy="456840"/>
          </a:xfrm>
          <a:prstGeom prst="rect">
            <a:avLst/>
          </a:prstGeom>
          <a:noFill/>
        </p:spPr>
        <p:txBody>
          <a:bodyPr anchor="ctr" wrap="square"/>
          <a:lstStyle/>
          <a:p>
            <a:r>
              <a:rPr lang="en-US" sz="1100" b="1" dirty="0">
                <a:solidFill>
                  <a:srgbClr val="FFFFFF"/>
                </a:solidFill>
                <a:latin typeface="Calibri"/>
              </a:rPr>
              <a:t>Reg numbers checked live</a:t>
            </a:r>
          </a:p>
          <a:p>
            <a:r>
              <a:rPr lang="en-US" sz="1000" dirty="0">
                <a:solidFill>
                  <a:srgbClr val="A0AABF"/>
                </a:solidFill>
                <a:latin typeface="Calibri"/>
              </a:rPr>
              <a:t>Real-time verification</a:t>
            </a:r>
          </a:p>
        </p:txBody>
      </p:sp>
      <p:sp>
        <p:nvSpPr>
          <p:cNvPr id="73" name="Pill3Bg"/>
          <p:cNvSpPr>
            <a:spLocks noGrp="1"/>
          </p:cNvSpPr>
          <p:nvPr/>
        </p:nvSpPr>
        <p:spPr>
          <a:xfrm>
            <a:off x="4693920" y="5791800"/>
            <a:ext cx="2133600" cy="45684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4" name="Pill3Accent"/>
          <p:cNvSpPr>
            <a:spLocks noGrp="1"/>
          </p:cNvSpPr>
          <p:nvPr/>
        </p:nvSpPr>
        <p:spPr>
          <a:xfrm>
            <a:off x="4693920" y="5791800"/>
            <a:ext cx="45720" cy="4568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5" name="Pill3Text"/>
          <p:cNvSpPr txBox="1">
            <a:spLocks noGrp="1"/>
          </p:cNvSpPr>
          <p:nvPr/>
        </p:nvSpPr>
        <p:spPr>
          <a:xfrm>
            <a:off x="4754880" y="5791800"/>
            <a:ext cx="2072640" cy="456840"/>
          </a:xfrm>
          <a:prstGeom prst="rect">
            <a:avLst/>
          </a:prstGeom>
          <a:noFill/>
        </p:spPr>
        <p:txBody>
          <a:bodyPr anchor="ctr" wrap="square"/>
          <a:lstStyle/>
          <a:p>
            <a:r>
              <a:rPr lang="en-US" sz="1100" b="1" dirty="0">
                <a:solidFill>
                  <a:srgbClr val="FFFFFF"/>
                </a:solidFill>
                <a:latin typeface="Calibri"/>
              </a:rPr>
              <a:t>Track record is system-only</a:t>
            </a:r>
          </a:p>
          <a:p>
            <a:r>
              <a:rPr lang="en-US" sz="1000" dirty="0">
                <a:solidFill>
                  <a:srgbClr val="A0AABF"/>
                </a:solidFill>
                <a:latin typeface="Calibri"/>
              </a:rPr>
              <a:t>No manual overrides</a:t>
            </a:r>
          </a:p>
        </p:txBody>
      </p:sp>
      <p:sp>
        <p:nvSpPr>
          <p:cNvPr id="76" name="Pill4Bg"/>
          <p:cNvSpPr>
            <a:spLocks noGrp="1"/>
          </p:cNvSpPr>
          <p:nvPr/>
        </p:nvSpPr>
        <p:spPr>
          <a:xfrm>
            <a:off x="6949440" y="5791800"/>
            <a:ext cx="2133600" cy="45684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7" name="Pill4Accent"/>
          <p:cNvSpPr>
            <a:spLocks noGrp="1"/>
          </p:cNvSpPr>
          <p:nvPr/>
        </p:nvSpPr>
        <p:spPr>
          <a:xfrm>
            <a:off x="6949440" y="5791800"/>
            <a:ext cx="45720" cy="4568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8" name="Pill4Text"/>
          <p:cNvSpPr txBox="1">
            <a:spLocks noGrp="1"/>
          </p:cNvSpPr>
          <p:nvPr/>
        </p:nvSpPr>
        <p:spPr>
          <a:xfrm>
            <a:off x="7010400" y="5791800"/>
            <a:ext cx="2072640" cy="456840"/>
          </a:xfrm>
          <a:prstGeom prst="rect">
            <a:avLst/>
          </a:prstGeom>
          <a:noFill/>
        </p:spPr>
        <p:txBody>
          <a:bodyPr anchor="ctr" wrap="square"/>
          <a:lstStyle/>
          <a:p>
            <a:r>
              <a:rPr lang="en-US" sz="1100" b="1" dirty="0">
                <a:solidFill>
                  <a:srgbClr val="FFFFFF"/>
                </a:solidFill>
                <a:latin typeface="Calibri"/>
              </a:rPr>
              <a:t>Server-side score only</a:t>
            </a:r>
          </a:p>
          <a:p>
            <a:r>
              <a:rPr lang="en-US" sz="1000" dirty="0">
                <a:solidFill>
                  <a:srgbClr val="A0AABF"/>
                </a:solidFill>
                <a:latin typeface="Calibri"/>
              </a:rPr>
              <a:t>Client cannot modify</a:t>
            </a:r>
          </a:p>
        </p:txBody>
      </p:sp>
      <p:sp>
        <p:nvSpPr>
          <p:cNvPr id="79" name="Pill5Bg"/>
          <p:cNvSpPr>
            <a:spLocks noGrp="1"/>
          </p:cNvSpPr>
          <p:nvPr/>
        </p:nvSpPr>
        <p:spPr>
          <a:xfrm>
            <a:off x="9204960" y="5791800"/>
            <a:ext cx="2804640" cy="45684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" name="Pill5Accent"/>
          <p:cNvSpPr>
            <a:spLocks noGrp="1"/>
          </p:cNvSpPr>
          <p:nvPr/>
        </p:nvSpPr>
        <p:spPr>
          <a:xfrm>
            <a:off x="9204960" y="5791800"/>
            <a:ext cx="45720" cy="4568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1" name="Pill5Text"/>
          <p:cNvSpPr txBox="1">
            <a:spLocks noGrp="1"/>
          </p:cNvSpPr>
          <p:nvPr/>
        </p:nvSpPr>
        <p:spPr>
          <a:xfrm>
            <a:off x="9265920" y="5791800"/>
            <a:ext cx="2743680" cy="456840"/>
          </a:xfrm>
          <a:prstGeom prst="rect">
            <a:avLst/>
          </a:prstGeom>
          <a:noFill/>
        </p:spPr>
        <p:txBody>
          <a:bodyPr anchor="ctr" wrap="square"/>
          <a:lstStyle/>
          <a:p>
            <a:r>
              <a:rPr lang="en-US" sz="1100" b="1" dirty="0">
                <a:solidFill>
                  <a:srgbClr val="FFFFFF"/>
                </a:solidFill>
                <a:latin typeface="Calibri"/>
              </a:rPr>
              <a:t>Expired certs = 0 pts</a:t>
            </a:r>
          </a:p>
          <a:p>
            <a:r>
              <a:rPr lang="en-US" sz="1000" dirty="0">
                <a:solidFill>
                  <a:srgbClr val="A0AABF"/>
                </a:solidFill>
                <a:latin typeface="Calibri"/>
              </a:rPr>
              <a:t>Renew to restore points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MarketSquare · Path to Launch</dc:title>
  <dc:subject>PptxGenJS Presentation</dc:subject>
  <dc:creator>MarketSquare</dc:creator>
  <cp:lastModifiedBy>MarketSquare</cp:lastModifiedBy>
  <cp:revision>1</cp:revision>
  <dcterms:created xsi:type="dcterms:W3CDTF">2026-04-15T17:23:17Z</dcterms:created>
  <dcterms:modified xsi:type="dcterms:W3CDTF">2026-04-15T17:23:17Z</dcterms:modified>
</cp:coreProperties>
</file>