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14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9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515600" y="0"/>
            <a:ext cx="1673352" cy="6858000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0" y="1097280"/>
            <a:ext cx="502920" cy="502920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29800" y="1188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0607040" y="1097280"/>
            <a:ext cx="502920" cy="502920"/>
          </a:xfrm>
          <a:prstGeom prst="ellipse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201400" y="118872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235440" y="2103120"/>
            <a:ext cx="502920" cy="50292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2980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10607040" y="2103120"/>
            <a:ext cx="502920" cy="502920"/>
          </a:xfrm>
          <a:prstGeom prst="ellipse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201400" y="2194560"/>
            <a:ext cx="1188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Sydney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1463040"/>
            <a:ext cx="7863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MarketSquare</a:t>
            </a:r>
            <a:endParaRPr lang="en-US" sz="5200" dirty="0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292608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260604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to Launch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 ·  Pretoria  ·  New York  ·  London  ·  Sydney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5852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02920" y="62636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trustsquare.co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Are Now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686800" y="256032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April 2026  ·  Current State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051560"/>
            <a:ext cx="256032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0040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693</a:t>
            </a:r>
            <a:endParaRPr lang="en-US" sz="3600" dirty="0"/>
          </a:p>
        </p:txBody>
      </p:sp>
      <p:sp>
        <p:nvSpPr>
          <p:cNvPr id="9" name="Text 7"/>
          <p:cNvSpPr/>
          <p:nvPr/>
        </p:nvSpPr>
        <p:spPr>
          <a:xfrm>
            <a:off x="320040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Sellers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81528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81528" y="1051560"/>
            <a:ext cx="256032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81528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3081528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at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843016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43016" y="1051560"/>
            <a:ext cx="2560320" cy="64008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43016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9B59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5843016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Cities in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604504" y="1051560"/>
            <a:ext cx="2560320" cy="13258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604504" y="1051560"/>
            <a:ext cx="256032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04504" y="114300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v1.2.0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604504" y="18562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 Backend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20040" y="2560320"/>
            <a:ext cx="5623560" cy="4023360"/>
          </a:xfrm>
          <a:prstGeom prst="rect">
            <a:avLst/>
          </a:prstGeom>
          <a:solidFill>
            <a:srgbClr val="F0FDF9"/>
          </a:solidFill>
          <a:ln w="19050">
            <a:solidFill>
              <a:srgbClr val="D1FA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560320"/>
            <a:ext cx="562356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267004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&amp; Working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548640" y="3154680"/>
            <a:ext cx="5257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Core marketplace (FEA + BEA)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Trust Score system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Advert Agent (AI Coach)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Tiered AI packs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Intro flow end-to-end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Photo storage (Cloudflare R2)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4-level geo hierarchy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CityLauncher dashboard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A6B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Admin onboarding tool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63640" y="2560320"/>
            <a:ext cx="5623560" cy="4023360"/>
          </a:xfrm>
          <a:prstGeom prst="rect">
            <a:avLst/>
          </a:prstGeom>
          <a:solidFill>
            <a:srgbClr val="FFF8F0"/>
          </a:solidFill>
          <a:ln w="19050">
            <a:solidFill>
              <a:srgbClr val="FFE8C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263640" y="2560320"/>
            <a:ext cx="562356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92240" y="2670048"/>
            <a:ext cx="5349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To Do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492240" y="3154680"/>
            <a:ext cx="5257800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Paystack live mode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n8n email notifications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Seller magic-link accept/decline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CIPC SA Pty Ltd registration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Sydney, Durban, Bloemfontein nearing threshold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B4A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-&gt;  Sydney pipeline: 52/60 sellers confirmed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55448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Timeline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400800" y="24688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8-Week Roadmap to Wave 1 Public Launch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606040" y="1115568"/>
            <a:ext cx="9308592" cy="384048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606040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769614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933188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096762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260336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423910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W6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9587484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751058" y="1152144"/>
            <a:ext cx="116357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W8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1609344"/>
            <a:ext cx="11960352" cy="658368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4320" y="166420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660904" y="1737360"/>
            <a:ext cx="2217420" cy="402336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60904" y="1737360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W1–W2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228600" y="2395728"/>
            <a:ext cx="11960352" cy="658368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74320" y="245059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Pipeline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824478" y="2523744"/>
            <a:ext cx="4544568" cy="402336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824478" y="2523744"/>
            <a:ext cx="4544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W2–W5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28600" y="3182112"/>
            <a:ext cx="11960352" cy="658368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74320" y="32369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Live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988052" y="3310128"/>
            <a:ext cx="2217420" cy="402336"/>
          </a:xfrm>
          <a:prstGeom prst="rect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88052" y="3310128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W3–W4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228600" y="3968496"/>
            <a:ext cx="11960352" cy="658368"/>
          </a:xfrm>
          <a:prstGeom prst="rect">
            <a:avLst/>
          </a:prstGeom>
          <a:solidFill>
            <a:srgbClr val="2A3A8A"/>
          </a:solidFill>
          <a:ln w="12700">
            <a:solidFill>
              <a:srgbClr val="2A3A8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74320" y="402336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Pre-Launch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7315200" y="4096512"/>
            <a:ext cx="2217420" cy="402336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0" y="4096512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W5–W6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28600" y="4754880"/>
            <a:ext cx="11960352" cy="658368"/>
          </a:xfrm>
          <a:prstGeom prst="rect">
            <a:avLst/>
          </a:prstGeom>
          <a:solidFill>
            <a:srgbClr val="253080"/>
          </a:solidFill>
          <a:ln w="12700">
            <a:solidFill>
              <a:srgbClr val="25308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74320" y="480974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 Launch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642348" y="4882896"/>
            <a:ext cx="2217420" cy="402336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642348" y="4882896"/>
            <a:ext cx="22174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W7–W8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651760" y="1115568"/>
            <a:ext cx="0" cy="4297680"/>
          </a:xfrm>
          <a:prstGeom prst="line">
            <a:avLst/>
          </a:prstGeom>
          <a:noFill/>
          <a:ln w="31750">
            <a:solidFill>
              <a:srgbClr val="E8616A"/>
            </a:solidFill>
            <a:prstDash val="dash"/>
          </a:ln>
        </p:spPr>
      </p:sp>
      <p:sp>
        <p:nvSpPr>
          <p:cNvPr id="36" name="Text 34"/>
          <p:cNvSpPr/>
          <p:nvPr/>
        </p:nvSpPr>
        <p:spPr>
          <a:xfrm>
            <a:off x="2331720" y="151790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6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228600" y="5550408"/>
            <a:ext cx="11960352" cy="621792"/>
          </a:xfrm>
          <a:prstGeom prst="rect">
            <a:avLst/>
          </a:prstGeom>
          <a:solidFill>
            <a:srgbClr val="162050"/>
          </a:solidFill>
          <a:ln w="12700">
            <a:solidFill>
              <a:srgbClr val="16205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221349" y="55869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86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E861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◆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84923" y="55869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Sellers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Soft Launch ◆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0875645" y="5586984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◆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Path to Launch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8229600" y="256032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blockers that gate soft-launch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4068" y="1188720"/>
            <a:ext cx="3474720" cy="4114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44068" y="1188720"/>
            <a:ext cx="3474720" cy="73152"/>
          </a:xfrm>
          <a:prstGeom prst="rect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69948" y="1353312"/>
            <a:ext cx="822960" cy="822960"/>
          </a:xfrm>
          <a:prstGeom prst="ellipse">
            <a:avLst/>
          </a:prstGeom>
          <a:solidFill>
            <a:srgbClr val="E8616A"/>
          </a:solidFill>
          <a:ln w="12700">
            <a:solidFill>
              <a:srgbClr val="E861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69948" y="13533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726948" y="23591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CIPC Registration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72668" y="31089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Unblocks Paystack live mode.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David action — already in progress.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completion: 2–4 weeks.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357116" y="1188720"/>
            <a:ext cx="3474720" cy="4114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357116" y="1188720"/>
            <a:ext cx="347472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682996" y="1353312"/>
            <a:ext cx="822960" cy="82296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82996" y="13533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539996" y="23591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Founding Sellers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585716" y="31089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 more sellers needed in Pretoria.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Masoushka + n8n SellerScraper pipeline.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city going public.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8170164" y="1188720"/>
            <a:ext cx="3474720" cy="411480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8170164" y="1188720"/>
            <a:ext cx="347472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496044" y="1353312"/>
            <a:ext cx="822960" cy="822960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496044" y="1353312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8353044" y="2359152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Email Notifications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398764" y="3108960"/>
            <a:ext cx="30175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Sellers must receive intro requests.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N8N_WEBHOOK_NEW_INTRO env var + workflow.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3A4A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 real marketplace usage.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320040" y="5623560"/>
            <a:ext cx="11548872" cy="548640"/>
          </a:xfrm>
          <a:prstGeom prst="rect">
            <a:avLst/>
          </a:prstGeom>
          <a:solidFill>
            <a:srgbClr val="FFF3CD"/>
          </a:solidFill>
          <a:ln w="19050">
            <a:solidFill>
              <a:srgbClr val="F5A62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7200" y="5660136"/>
            <a:ext cx="11338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blockers must be resolved before soft-launch can proceed.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45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96012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0800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 Pipeline · Launch Status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296000" y="1020000"/>
            <a:ext cx="5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 MET  ●  5 CITIES</a:t>
            </a:r>
            <a:endParaRPr lang="en-US" sz="1300" dirty="0"/>
          </a:p>
        </p:txBody>
      </p:sp>
      <p:sp>
        <p:nvSpPr>
          <p:cNvPr id="10" name="Card1Bg"/>
          <p:cNvSpPr/>
          <p:nvPr/>
        </p:nvSpPr>
        <p:spPr>
          <a:xfrm>
            <a:off x="29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11" name="Card1TopBar"/>
          <p:cNvSpPr/>
          <p:nvPr/>
        </p:nvSpPr>
        <p:spPr>
          <a:xfrm>
            <a:off x="29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12" name="Card1Text"/>
          <p:cNvSpPr/>
          <p:nvPr/>
        </p:nvSpPr>
        <p:spPr>
          <a:xfrm>
            <a:off x="29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Pretoria · ZA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62/60</a:t>
            </a:r>
            <a:endParaRPr lang="en-US" sz="2600" dirty="0"/>
          </a:p>
        </p:txBody>
      </p:sp>
      <p:sp>
        <p:nvSpPr>
          <p:cNvPr id="20" name="Card2Bg"/>
          <p:cNvSpPr/>
          <p:nvPr/>
        </p:nvSpPr>
        <p:spPr>
          <a:xfrm>
            <a:off x="258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21" name="Card2TopBar"/>
          <p:cNvSpPr/>
          <p:nvPr/>
        </p:nvSpPr>
        <p:spPr>
          <a:xfrm>
            <a:off x="258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22" name="Card2Text"/>
          <p:cNvSpPr/>
          <p:nvPr/>
        </p:nvSpPr>
        <p:spPr>
          <a:xfrm>
            <a:off x="258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· US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60/60</a:t>
            </a:r>
            <a:endParaRPr lang="en-US" sz="2600" dirty="0"/>
          </a:p>
        </p:txBody>
      </p:sp>
      <p:sp>
        <p:nvSpPr>
          <p:cNvPr id="30" name="Card3Bg"/>
          <p:cNvSpPr/>
          <p:nvPr/>
        </p:nvSpPr>
        <p:spPr>
          <a:xfrm>
            <a:off x="487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31" name="Card3TopBar"/>
          <p:cNvSpPr/>
          <p:nvPr/>
        </p:nvSpPr>
        <p:spPr>
          <a:xfrm>
            <a:off x="487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32" name="Card3Text"/>
          <p:cNvSpPr/>
          <p:nvPr/>
        </p:nvSpPr>
        <p:spPr>
          <a:xfrm>
            <a:off x="487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London · GB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63/60</a:t>
            </a:r>
            <a:endParaRPr lang="en-US" sz="2600" dirty="0"/>
          </a:p>
        </p:txBody>
      </p:sp>
      <p:sp>
        <p:nvSpPr>
          <p:cNvPr id="40" name="Card4Bg"/>
          <p:cNvSpPr/>
          <p:nvPr/>
        </p:nvSpPr>
        <p:spPr>
          <a:xfrm>
            <a:off x="7166000" y="1290000"/>
            <a:ext cx="218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41" name="Card4TopBar"/>
          <p:cNvSpPr/>
          <p:nvPr/>
        </p:nvSpPr>
        <p:spPr>
          <a:xfrm>
            <a:off x="7166000" y="1290000"/>
            <a:ext cx="218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42" name="Card4Text"/>
          <p:cNvSpPr/>
          <p:nvPr/>
        </p:nvSpPr>
        <p:spPr>
          <a:xfrm>
            <a:off x="7166000" y="1347150"/>
            <a:ext cx="218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 Town · ZA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65/60</a:t>
            </a:r>
            <a:endParaRPr lang="en-US" sz="2600" dirty="0"/>
          </a:p>
        </p:txBody>
      </p:sp>
      <p:sp>
        <p:nvSpPr>
          <p:cNvPr id="50" name="Card5Bg"/>
          <p:cNvSpPr/>
          <p:nvPr/>
        </p:nvSpPr>
        <p:spPr>
          <a:xfrm>
            <a:off x="9456000" y="1290000"/>
            <a:ext cx="2440000" cy="1350000"/>
          </a:xfrm>
          <a:prstGeom prst="rect">
            <a:avLst/>
          </a:prstGeom>
          <a:solidFill>
            <a:srgbClr val="1E2F6B"/>
          </a:solidFill>
          <a:ln w="19050">
            <a:solidFill>
              <a:srgbClr val="2ECC71"/>
            </a:solidFill>
            <a:prstDash val="solid"/>
          </a:ln>
        </p:spPr>
      </p:sp>
      <p:sp>
        <p:nvSpPr>
          <p:cNvPr id="51" name="Card5TopBar"/>
          <p:cNvSpPr/>
          <p:nvPr/>
        </p:nvSpPr>
        <p:spPr>
          <a:xfrm>
            <a:off x="9456000" y="1290000"/>
            <a:ext cx="2440000" cy="57150"/>
          </a:xfrm>
          <a:prstGeom prst="rect">
            <a:avLst/>
          </a:prstGeom>
          <a:solidFill>
            <a:srgbClr val="2ECC71"/>
          </a:solidFill>
          <a:ln w="12700">
            <a:solidFill>
              <a:srgbClr val="2ECC71"/>
            </a:solidFill>
            <a:prstDash val="solid"/>
          </a:ln>
        </p:spPr>
      </p:sp>
      <p:sp>
        <p:nvSpPr>
          <p:cNvPr id="52" name="Card5Text"/>
          <p:cNvSpPr/>
          <p:nvPr/>
        </p:nvSpPr>
        <p:spPr>
          <a:xfrm>
            <a:off x="9456000" y="1347150"/>
            <a:ext cx="2440000" cy="1292850"/>
          </a:xfrm>
          <a:prstGeom prst="rect">
            <a:avLst/>
          </a:prstGeom>
          <a:noFill/>
          <a:ln/>
        </p:spPr>
        <p:txBody>
          <a:bodyPr wrap="square" lIns="91440" tIns="91440" rIns="91440" bIns="9144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Johannesburg · ZA</a:t>
            </a:r>
            <a:endParaRPr lang="en-US" sz="2200" dirty="0"/>
          </a:p>
          <a:p>
            <a:pPr algn="ctr" indent="0" marL="0">
              <a:buNone/>
            </a:pPr>
            <a:r>
              <a:rPr lang="en-US" sz="2600" b="1" dirty="0">
                <a:solidFill>
                  <a:srgbClr val="2ECC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63/60</a:t>
            </a:r>
            <a:endParaRPr lang="en-US" sz="2600" dirty="0"/>
          </a:p>
        </p:txBody>
      </p:sp>
      <p:sp>
        <p:nvSpPr>
          <p:cNvPr id="60" name="Text 4"/>
          <p:cNvSpPr/>
          <p:nvPr/>
        </p:nvSpPr>
        <p:spPr>
          <a:xfrm>
            <a:off x="296000" y="2740000"/>
            <a:ext cx="400000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300" dirty="0"/>
          </a:p>
        </p:txBody>
      </p:sp>
      <p:sp>
        <p:nvSpPr>
          <p:cNvPr id="100" name="Row1Bg"/>
          <p:cNvSpPr/>
          <p:nvPr/>
        </p:nvSpPr>
        <p:spPr>
          <a:xfrm>
            <a:off x="296000" y="2990000"/>
            <a:ext cx="11600000" cy="370000"/>
          </a:xfrm>
          <a:prstGeom prst="rect">
            <a:avLst/>
          </a:prstGeom>
          <a:solidFill>
            <a:srgbClr val="1A2456"/>
          </a:solidFill>
          <a:ln w="0">
            <a:noFill/>
          </a:ln>
        </p:spPr>
      </p:sp>
      <p:sp>
        <p:nvSpPr>
          <p:cNvPr id="101" name="Row1Name"/>
          <p:cNvSpPr/>
          <p:nvPr/>
        </p:nvSpPr>
        <p:spPr>
          <a:xfrm>
            <a:off x="320000" y="29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Durban · ZA</a:t>
            </a:r>
            <a:endParaRPr lang="en-US" sz="1300" dirty="0"/>
          </a:p>
        </p:txBody>
      </p:sp>
      <p:sp>
        <p:nvSpPr>
          <p:cNvPr id="102" name="Row1BarBg"/>
          <p:cNvSpPr/>
          <p:nvPr/>
        </p:nvSpPr>
        <p:spPr>
          <a:xfrm>
            <a:off x="2500000" y="30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03" name="Row1BarFill"/>
          <p:cNvSpPr/>
          <p:nvPr/>
        </p:nvSpPr>
        <p:spPr>
          <a:xfrm>
            <a:off x="2500000" y="3080000"/>
            <a:ext cx="824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04" name="Row1Count"/>
          <p:cNvSpPr/>
          <p:nvPr/>
        </p:nvSpPr>
        <p:spPr>
          <a:xfrm>
            <a:off x="11100000" y="29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58/60</a:t>
            </a:r>
            <a:endParaRPr lang="en-US" sz="1200" dirty="0"/>
          </a:p>
        </p:txBody>
      </p:sp>
      <p:sp>
        <p:nvSpPr>
          <p:cNvPr id="110" name="Row2Bg"/>
          <p:cNvSpPr/>
          <p:nvPr/>
        </p:nvSpPr>
        <p:spPr>
          <a:xfrm>
            <a:off x="296000" y="3390000"/>
            <a:ext cx="11600000" cy="37000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</p:sp>
      <p:sp>
        <p:nvSpPr>
          <p:cNvPr id="111" name="Row2Name"/>
          <p:cNvSpPr/>
          <p:nvPr/>
        </p:nvSpPr>
        <p:spPr>
          <a:xfrm>
            <a:off x="320000" y="33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Sydney · AU</a:t>
            </a:r>
            <a:endParaRPr lang="en-US" sz="1300" dirty="0"/>
          </a:p>
        </p:txBody>
      </p:sp>
      <p:sp>
        <p:nvSpPr>
          <p:cNvPr id="112" name="Row2BarBg"/>
          <p:cNvSpPr/>
          <p:nvPr/>
        </p:nvSpPr>
        <p:spPr>
          <a:xfrm>
            <a:off x="2500000" y="34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13" name="Row2BarFill"/>
          <p:cNvSpPr/>
          <p:nvPr/>
        </p:nvSpPr>
        <p:spPr>
          <a:xfrm>
            <a:off x="2500000" y="3480000"/>
            <a:ext cx="739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14" name="Row2Count"/>
          <p:cNvSpPr/>
          <p:nvPr/>
        </p:nvSpPr>
        <p:spPr>
          <a:xfrm>
            <a:off x="11100000" y="33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52/60</a:t>
            </a:r>
            <a:endParaRPr lang="en-US" sz="1200" dirty="0"/>
          </a:p>
        </p:txBody>
      </p:sp>
      <p:sp>
        <p:nvSpPr>
          <p:cNvPr id="120" name="Row3Bg"/>
          <p:cNvSpPr/>
          <p:nvPr/>
        </p:nvSpPr>
        <p:spPr>
          <a:xfrm>
            <a:off x="296000" y="3790000"/>
            <a:ext cx="11600000" cy="370000"/>
          </a:xfrm>
          <a:prstGeom prst="rect">
            <a:avLst/>
          </a:prstGeom>
          <a:solidFill>
            <a:srgbClr val="1A2456"/>
          </a:solidFill>
          <a:ln w="0">
            <a:noFill/>
          </a:ln>
        </p:spPr>
      </p:sp>
      <p:sp>
        <p:nvSpPr>
          <p:cNvPr id="121" name="Row3Name"/>
          <p:cNvSpPr/>
          <p:nvPr/>
        </p:nvSpPr>
        <p:spPr>
          <a:xfrm>
            <a:off x="320000" y="37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Bloemfontein · ZA</a:t>
            </a:r>
            <a:endParaRPr lang="en-US" sz="1300" dirty="0"/>
          </a:p>
        </p:txBody>
      </p:sp>
      <p:sp>
        <p:nvSpPr>
          <p:cNvPr id="122" name="Row3BarBg"/>
          <p:cNvSpPr/>
          <p:nvPr/>
        </p:nvSpPr>
        <p:spPr>
          <a:xfrm>
            <a:off x="2500000" y="38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23" name="Row3BarFill"/>
          <p:cNvSpPr/>
          <p:nvPr/>
        </p:nvSpPr>
        <p:spPr>
          <a:xfrm>
            <a:off x="2500000" y="3880000"/>
            <a:ext cx="7650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24" name="Row3Count"/>
          <p:cNvSpPr/>
          <p:nvPr/>
        </p:nvSpPr>
        <p:spPr>
          <a:xfrm>
            <a:off x="11100000" y="37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54/60</a:t>
            </a:r>
            <a:endParaRPr lang="en-US" sz="1200" dirty="0"/>
          </a:p>
        </p:txBody>
      </p:sp>
      <p:sp>
        <p:nvSpPr>
          <p:cNvPr id="130" name="Row4Bg"/>
          <p:cNvSpPr/>
          <p:nvPr/>
        </p:nvSpPr>
        <p:spPr>
          <a:xfrm>
            <a:off x="296000" y="4190000"/>
            <a:ext cx="11600000" cy="37000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</p:sp>
      <p:sp>
        <p:nvSpPr>
          <p:cNvPr id="131" name="Row4Name"/>
          <p:cNvSpPr/>
          <p:nvPr/>
        </p:nvSpPr>
        <p:spPr>
          <a:xfrm>
            <a:off x="320000" y="41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London · ZA</a:t>
            </a:r>
            <a:endParaRPr lang="en-US" sz="1300" dirty="0"/>
          </a:p>
        </p:txBody>
      </p:sp>
      <p:sp>
        <p:nvSpPr>
          <p:cNvPr id="132" name="Row4BarBg"/>
          <p:cNvSpPr/>
          <p:nvPr/>
        </p:nvSpPr>
        <p:spPr>
          <a:xfrm>
            <a:off x="2500000" y="42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33" name="Row4BarFill"/>
          <p:cNvSpPr/>
          <p:nvPr/>
        </p:nvSpPr>
        <p:spPr>
          <a:xfrm>
            <a:off x="2500000" y="4280000"/>
            <a:ext cx="6630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34" name="Row4Count"/>
          <p:cNvSpPr/>
          <p:nvPr/>
        </p:nvSpPr>
        <p:spPr>
          <a:xfrm>
            <a:off x="11100000" y="41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47/60</a:t>
            </a:r>
            <a:endParaRPr lang="en-US" sz="1200" dirty="0"/>
          </a:p>
        </p:txBody>
      </p:sp>
      <p:sp>
        <p:nvSpPr>
          <p:cNvPr id="140" name="Row5Bg"/>
          <p:cNvSpPr/>
          <p:nvPr/>
        </p:nvSpPr>
        <p:spPr>
          <a:xfrm>
            <a:off x="296000" y="4590000"/>
            <a:ext cx="11600000" cy="370000"/>
          </a:xfrm>
          <a:prstGeom prst="rect">
            <a:avLst/>
          </a:prstGeom>
          <a:solidFill>
            <a:srgbClr val="1A2456"/>
          </a:solidFill>
          <a:ln w="0">
            <a:noFill/>
          </a:ln>
        </p:spPr>
      </p:sp>
      <p:sp>
        <p:nvSpPr>
          <p:cNvPr id="141" name="Row5Name"/>
          <p:cNvSpPr/>
          <p:nvPr/>
        </p:nvSpPr>
        <p:spPr>
          <a:xfrm>
            <a:off x="320000" y="45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 Elizabeth · ZA</a:t>
            </a:r>
            <a:endParaRPr lang="en-US" sz="1300" dirty="0"/>
          </a:p>
        </p:txBody>
      </p:sp>
      <p:sp>
        <p:nvSpPr>
          <p:cNvPr id="142" name="Row5BarBg"/>
          <p:cNvSpPr/>
          <p:nvPr/>
        </p:nvSpPr>
        <p:spPr>
          <a:xfrm>
            <a:off x="2500000" y="46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43" name="Row5BarFill"/>
          <p:cNvSpPr/>
          <p:nvPr/>
        </p:nvSpPr>
        <p:spPr>
          <a:xfrm>
            <a:off x="2500000" y="4680000"/>
            <a:ext cx="569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44" name="Row5Count"/>
          <p:cNvSpPr/>
          <p:nvPr/>
        </p:nvSpPr>
        <p:spPr>
          <a:xfrm>
            <a:off x="11100000" y="45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40/60</a:t>
            </a:r>
            <a:endParaRPr lang="en-US" sz="1200" dirty="0"/>
          </a:p>
        </p:txBody>
      </p:sp>
      <p:sp>
        <p:nvSpPr>
          <p:cNvPr id="150" name="Row6Bg"/>
          <p:cNvSpPr/>
          <p:nvPr/>
        </p:nvSpPr>
        <p:spPr>
          <a:xfrm>
            <a:off x="296000" y="4990000"/>
            <a:ext cx="11600000" cy="370000"/>
          </a:xfrm>
          <a:prstGeom prst="rect">
            <a:avLst/>
          </a:prstGeom>
          <a:solidFill>
            <a:srgbClr val="1E2761"/>
          </a:solidFill>
          <a:ln w="0">
            <a:noFill/>
          </a:ln>
        </p:spPr>
      </p:sp>
      <p:sp>
        <p:nvSpPr>
          <p:cNvPr id="151" name="Row6Name"/>
          <p:cNvSpPr/>
          <p:nvPr/>
        </p:nvSpPr>
        <p:spPr>
          <a:xfrm>
            <a:off x="320000" y="4990000"/>
            <a:ext cx="20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Polokwane · ZA</a:t>
            </a:r>
            <a:endParaRPr lang="en-US" sz="1300" dirty="0"/>
          </a:p>
        </p:txBody>
      </p:sp>
      <p:sp>
        <p:nvSpPr>
          <p:cNvPr id="152" name="Row6BarBg"/>
          <p:cNvSpPr/>
          <p:nvPr/>
        </p:nvSpPr>
        <p:spPr>
          <a:xfrm>
            <a:off x="2500000" y="5080000"/>
            <a:ext cx="8500000" cy="185000"/>
          </a:xfrm>
          <a:prstGeom prst="rect">
            <a:avLst/>
          </a:prstGeom>
          <a:solidFill>
            <a:srgbClr val="253080"/>
          </a:solidFill>
          <a:ln w="0">
            <a:noFill/>
          </a:ln>
        </p:spPr>
      </p:sp>
      <p:sp>
        <p:nvSpPr>
          <p:cNvPr id="153" name="Row6BarFill"/>
          <p:cNvSpPr/>
          <p:nvPr/>
        </p:nvSpPr>
        <p:spPr>
          <a:xfrm>
            <a:off x="2500000" y="5080000"/>
            <a:ext cx="1955000" cy="185000"/>
          </a:xfrm>
          <a:prstGeom prst="rect">
            <a:avLst/>
          </a:prstGeom>
          <a:solidFill>
            <a:srgbClr val="4A90D9"/>
          </a:solidFill>
          <a:ln w="0">
            <a:noFill/>
          </a:ln>
        </p:spPr>
      </p:sp>
      <p:sp>
        <p:nvSpPr>
          <p:cNvPr id="154" name="Row6Count"/>
          <p:cNvSpPr/>
          <p:nvPr/>
        </p:nvSpPr>
        <p:spPr>
          <a:xfrm>
            <a:off x="11100000" y="4990000"/>
            <a:ext cx="800000" cy="37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14/60</a:t>
            </a:r>
            <a:endParaRPr lang="en-US" sz="1200" dirty="0"/>
          </a:p>
        </p:txBody>
      </p:sp>
      <p:sp>
        <p:nvSpPr>
          <p:cNvPr id="200" name="Footer"/>
          <p:cNvSpPr/>
          <p:nvPr/>
        </p:nvSpPr>
        <p:spPr>
          <a:xfrm>
            <a:off x="296000" y="5450000"/>
            <a:ext cx="11600000" cy="3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city launches publicly once it hits 60 founding sellers. KPI auto-triggers public visibility on trustsquare.co/launch/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9144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9B59B6"/>
          </a:solidFill>
          <a:ln w="12700">
            <a:solidFill>
              <a:srgbClr val="9B59B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164592"/>
            <a:ext cx="100584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Readiness · Go/No-Go Criteria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20040" y="1097280"/>
            <a:ext cx="3566160" cy="5440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0040" y="1097280"/>
            <a:ext cx="3566160" cy="64008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84632" y="1207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84632" y="1700784"/>
            <a:ext cx="3236976" cy="0"/>
          </a:xfrm>
          <a:prstGeom prst="line">
            <a:avLst/>
          </a:prstGeom>
          <a:noFill/>
          <a:ln w="12700">
            <a:solidFill>
              <a:srgbClr val="D1D9E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81051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193852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8470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 backend stable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235915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48640" y="248716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23957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 flow end-to-end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457200" y="290779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303580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2960" y="294436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Photo upload + storage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457200" y="345643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48640" y="358444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2960" y="349300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Score system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457200" y="400507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8640" y="413308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2960" y="404164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email notifications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457200" y="455371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48640" y="468172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2960" y="45902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Seller magic-link accept/decline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457200" y="510235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52303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22960" y="51389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billing active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4151376" y="1097280"/>
            <a:ext cx="3566160" cy="5440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151376" y="1097280"/>
            <a:ext cx="3566160" cy="64008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15968" y="1207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315968" y="1700784"/>
            <a:ext cx="3236976" cy="0"/>
          </a:xfrm>
          <a:prstGeom prst="line">
            <a:avLst/>
          </a:prstGeom>
          <a:noFill/>
          <a:ln w="12700">
            <a:solidFill>
              <a:srgbClr val="D1D9E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88536" y="1810512"/>
            <a:ext cx="3291840" cy="493776"/>
          </a:xfrm>
          <a:prstGeom prst="rect">
            <a:avLst/>
          </a:prstGeom>
          <a:solidFill>
            <a:srgbClr val="ECFDF5"/>
          </a:solidFill>
          <a:ln w="12700">
            <a:solidFill>
              <a:srgbClr val="BBF7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379976" y="1938528"/>
            <a:ext cx="201168" cy="20116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654296" y="18470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5E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test mode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288536" y="235915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379976" y="24871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654296" y="23957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CIPC registration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288536" y="290779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379976" y="30358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54296" y="294436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live mode</a:t>
            </a:r>
            <a:endParaRPr lang="en-US" sz="1250" dirty="0"/>
          </a:p>
        </p:txBody>
      </p:sp>
      <p:sp>
        <p:nvSpPr>
          <p:cNvPr id="43" name="Shape 41"/>
          <p:cNvSpPr/>
          <p:nvPr/>
        </p:nvSpPr>
        <p:spPr>
          <a:xfrm>
            <a:off x="4288536" y="345643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379976" y="358444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54296" y="349300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entity (NY/LON/SYD)</a:t>
            </a:r>
            <a:endParaRPr lang="en-US" sz="1250" dirty="0"/>
          </a:p>
        </p:txBody>
      </p:sp>
      <p:sp>
        <p:nvSpPr>
          <p:cNvPr id="46" name="Shape 44"/>
          <p:cNvSpPr/>
          <p:nvPr/>
        </p:nvSpPr>
        <p:spPr>
          <a:xfrm>
            <a:off x="7982712" y="1097280"/>
            <a:ext cx="3566160" cy="5440680"/>
          </a:xfrm>
          <a:prstGeom prst="rect">
            <a:avLst/>
          </a:prstGeom>
          <a:solidFill>
            <a:srgbClr val="F4F6FB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982712" y="1097280"/>
            <a:ext cx="3566160" cy="64008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147304" y="1207008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600" dirty="0"/>
          </a:p>
        </p:txBody>
      </p:sp>
      <p:sp>
        <p:nvSpPr>
          <p:cNvPr id="49" name="Shape 47"/>
          <p:cNvSpPr/>
          <p:nvPr/>
        </p:nvSpPr>
        <p:spPr>
          <a:xfrm>
            <a:off x="8147304" y="1700784"/>
            <a:ext cx="3236976" cy="0"/>
          </a:xfrm>
          <a:prstGeom prst="line">
            <a:avLst/>
          </a:prstGeom>
          <a:noFill/>
          <a:ln w="12700">
            <a:solidFill>
              <a:srgbClr val="D1D9E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8119872" y="181051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211312" y="193852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85632" y="184708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founding sellers (Pretoria)</a:t>
            </a:r>
            <a:endParaRPr lang="en-US" sz="1250" dirty="0"/>
          </a:p>
        </p:txBody>
      </p:sp>
      <p:sp>
        <p:nvSpPr>
          <p:cNvPr id="53" name="Shape 51"/>
          <p:cNvSpPr/>
          <p:nvPr/>
        </p:nvSpPr>
        <p:spPr>
          <a:xfrm>
            <a:off x="8119872" y="235915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211312" y="248716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85632" y="239572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sellers each (NY · LON · SYD)</a:t>
            </a:r>
            <a:endParaRPr lang="en-US" sz="1250" dirty="0"/>
          </a:p>
        </p:txBody>
      </p:sp>
      <p:sp>
        <p:nvSpPr>
          <p:cNvPr id="56" name="Shape 54"/>
          <p:cNvSpPr/>
          <p:nvPr/>
        </p:nvSpPr>
        <p:spPr>
          <a:xfrm>
            <a:off x="8119872" y="2907792"/>
            <a:ext cx="3291840" cy="493776"/>
          </a:xfrm>
          <a:prstGeom prst="rect">
            <a:avLst/>
          </a:prstGeom>
          <a:solidFill>
            <a:srgbClr val="FFF9EC"/>
          </a:solidFill>
          <a:ln w="12700">
            <a:solidFill>
              <a:srgbClr val="FDE68A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211312" y="3035808"/>
            <a:ext cx="201168" cy="20116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85632" y="2944368"/>
            <a:ext cx="290779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B4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listing content + photos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11A50"/>
          </a:solidFill>
          <a:ln w="12700">
            <a:solidFill>
              <a:srgbClr val="111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457200"/>
            <a:ext cx="10972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 Day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502920" y="132588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Happens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114800" y="1883664"/>
            <a:ext cx="3959352" cy="45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113532" y="3794760"/>
            <a:ext cx="201168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7091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" y="2011680"/>
            <a:ext cx="260604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91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3600" dirty="0"/>
          </a:p>
        </p:txBody>
      </p:sp>
      <p:sp>
        <p:nvSpPr>
          <p:cNvPr id="11" name="Shape 9"/>
          <p:cNvSpPr/>
          <p:nvPr/>
        </p:nvSpPr>
        <p:spPr>
          <a:xfrm>
            <a:off x="745236" y="2907792"/>
            <a:ext cx="2057400" cy="0"/>
          </a:xfrm>
          <a:prstGeom prst="line">
            <a:avLst/>
          </a:prstGeom>
          <a:noFill/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807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fires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sellers confirmed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4 cities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993892" y="3794760"/>
            <a:ext cx="201168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35127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351276" y="2011680"/>
            <a:ext cx="2606040" cy="73152"/>
          </a:xfrm>
          <a:prstGeom prst="rect">
            <a:avLst/>
          </a:prstGeom>
          <a:solidFill>
            <a:srgbClr val="4A90D9"/>
          </a:solidFill>
          <a:ln w="12700">
            <a:solidFill>
              <a:srgbClr val="4A9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35127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3600" dirty="0"/>
          </a:p>
        </p:txBody>
      </p:sp>
      <p:sp>
        <p:nvSpPr>
          <p:cNvPr id="17" name="Shape 15"/>
          <p:cNvSpPr/>
          <p:nvPr/>
        </p:nvSpPr>
        <p:spPr>
          <a:xfrm>
            <a:off x="3625596" y="2907792"/>
            <a:ext cx="2057400" cy="0"/>
          </a:xfrm>
          <a:prstGeom prst="line">
            <a:avLst/>
          </a:prstGeom>
          <a:noFill/>
          <a:ln w="12700">
            <a:solidFill>
              <a:srgbClr val="4A9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48843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Paystack live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1T intro fees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charged to buyers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74252" y="3794760"/>
            <a:ext cx="201168" cy="914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3163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231636" y="2011680"/>
            <a:ext cx="2606040" cy="73152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23163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3600" dirty="0"/>
          </a:p>
        </p:txBody>
      </p:sp>
      <p:sp>
        <p:nvSpPr>
          <p:cNvPr id="23" name="Shape 21"/>
          <p:cNvSpPr/>
          <p:nvPr/>
        </p:nvSpPr>
        <p:spPr>
          <a:xfrm>
            <a:off x="6505956" y="2907792"/>
            <a:ext cx="2057400" cy="0"/>
          </a:xfrm>
          <a:prstGeom prst="line">
            <a:avLst/>
          </a:prstGeom>
          <a:noFill/>
          <a:ln w="12700">
            <a:solidFill>
              <a:srgbClr val="F5A62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36879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n8n alerts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Buyers &amp; sellers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notified automatically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9111996" y="2011680"/>
            <a:ext cx="2606040" cy="3657600"/>
          </a:xfrm>
          <a:prstGeom prst="rect">
            <a:avLst/>
          </a:prstGeom>
          <a:solidFill>
            <a:srgbClr val="253080"/>
          </a:solidFill>
          <a:ln w="12700">
            <a:solidFill>
              <a:srgbClr val="2A3A8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9111996" y="2011680"/>
            <a:ext cx="2606040" cy="73152"/>
          </a:xfrm>
          <a:prstGeom prst="rect">
            <a:avLst/>
          </a:prstGeom>
          <a:solidFill>
            <a:srgbClr val="F1C40F"/>
          </a:solidFill>
          <a:ln w="12700">
            <a:solidFill>
              <a:srgbClr val="F1C40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1996" y="2148840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C4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3600" dirty="0"/>
          </a:p>
        </p:txBody>
      </p:sp>
      <p:sp>
        <p:nvSpPr>
          <p:cNvPr id="28" name="Shape 26"/>
          <p:cNvSpPr/>
          <p:nvPr/>
        </p:nvSpPr>
        <p:spPr>
          <a:xfrm>
            <a:off x="9386316" y="2907792"/>
            <a:ext cx="2057400" cy="0"/>
          </a:xfrm>
          <a:prstGeom prst="line">
            <a:avLst/>
          </a:prstGeom>
          <a:noFill/>
          <a:ln w="12700">
            <a:solidFill>
              <a:srgbClr val="F1C40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249156" y="3017520"/>
            <a:ext cx="233172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CityLauncher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live cities shown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trustsquare.co/launch/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0" y="6217920"/>
            <a:ext cx="12188952" cy="640080"/>
          </a:xfrm>
          <a:prstGeom prst="rect">
            <a:avLst/>
          </a:prstGeom>
          <a:solidFill>
            <a:srgbClr val="0A0F30"/>
          </a:solidFill>
          <a:ln w="12700">
            <a:solidFill>
              <a:srgbClr val="0A0F3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6263640"/>
            <a:ext cx="112745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trustsquare.co  ·  The trusted anonymous marketplace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Bg"/>
          <p:cNvSpPr>
            <a:spLocks noGrp="1"/>
          </p:cNvSpPr>
          <p:nvPr/>
        </p:nvSpPr>
        <p:spPr>
          <a:xfrm>
            <a:off x="0" y="0"/>
            <a:ext cx="12192000" cy="731520"/>
          </a:xfrm>
          <a:prstGeom prst="rect">
            <a:avLst/>
          </a:prstGeom>
          <a:solidFill>
            <a:srgbClr val="141E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itle"/>
          <p:cNvSpPr txBox="1">
            <a:spLocks noGrp="1"/>
          </p:cNvSpPr>
          <p:nvPr/>
        </p:nvSpPr>
        <p:spPr>
          <a:xfrm>
            <a:off x="228600" y="91440"/>
            <a:ext cx="6858000" cy="54864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2200" b="1" dirty="0">
                <a:solidFill>
                  <a:srgbClr val="FFFFFF"/>
                </a:solidFill>
                <a:latin typeface="Calibri"/>
              </a:rPr>
              <a:t>Trust Score System</a:t>
            </a:r>
          </a:p>
        </p:txBody>
      </p:sp>
      <p:sp>
        <p:nvSpPr>
          <p:cNvPr id="4" name="Subtitle"/>
          <p:cNvSpPr txBox="1">
            <a:spLocks noGrp="1"/>
          </p:cNvSpPr>
          <p:nvPr/>
        </p:nvSpPr>
        <p:spPr>
          <a:xfrm>
            <a:off x="6858000" y="91440"/>
            <a:ext cx="5105400" cy="548640"/>
          </a:xfrm>
          <a:prstGeom prst="rect">
            <a:avLst/>
          </a:prstGeom>
          <a:noFill/>
        </p:spPr>
        <p:txBody>
          <a:bodyPr anchor="ctr"/>
          <a:lstStyle/>
          <a:p>
            <a:pPr algn="r"/>
            <a:r>
              <a:rPr lang="en-US" sz="1300" dirty="0">
                <a:solidFill>
                  <a:srgbClr val="A0AABF"/>
                </a:solidFill>
                <a:latin typeface="Calibri"/>
              </a:rPr>
              <a:t>How buyers earn and maintain seller trust</a:t>
            </a:r>
          </a:p>
        </p:txBody>
      </p:sp>
      <p:sp>
        <p:nvSpPr>
          <p:cNvPr id="5" name="HeaderRule"/>
          <p:cNvSpPr>
            <a:spLocks noGrp="1"/>
          </p:cNvSpPr>
          <p:nvPr/>
        </p:nvSpPr>
        <p:spPr>
          <a:xfrm>
            <a:off x="0" y="731520"/>
            <a:ext cx="12192000" cy="381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" name="ZoneBHeader"/>
          <p:cNvSpPr txBox="1">
            <a:spLocks noGrp="1"/>
          </p:cNvSpPr>
          <p:nvPr/>
        </p:nvSpPr>
        <p:spPr>
          <a:xfrm>
            <a:off x="152400" y="807624"/>
            <a:ext cx="2590800" cy="180180"/>
          </a:xfrm>
          <a:prstGeom prst="rect">
            <a:avLst/>
          </a:prstGeom>
          <a:noFill/>
        </p:spPr>
        <p:txBody>
          <a:bodyPr anchor="ctr"/>
          <a:lstStyle/>
          <a:p>
            <a:r>
              <a:rPr lang="en-US" sz="1100" b="1" dirty="0">
                <a:solidFill>
                  <a:srgbClr val="A0AABF"/>
                </a:solidFill>
                <a:latin typeface="Calibri"/>
              </a:rPr>
              <a:t>TRUST TIERS</a:t>
            </a:r>
          </a:p>
        </p:txBody>
      </p:sp>
      <p:sp>
        <p:nvSpPr>
          <p:cNvPr id="7" name="Tier1Bg"/>
          <p:cNvSpPr>
            <a:spLocks noGrp="1"/>
          </p:cNvSpPr>
          <p:nvPr/>
        </p:nvSpPr>
        <p:spPr>
          <a:xfrm>
            <a:off x="152400" y="987552"/>
            <a:ext cx="2590800" cy="92000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Tier1Accent"/>
          <p:cNvSpPr>
            <a:spLocks noGrp="1"/>
          </p:cNvSpPr>
          <p:nvPr/>
        </p:nvSpPr>
        <p:spPr>
          <a:xfrm>
            <a:off x="152400" y="987552"/>
            <a:ext cx="54864" cy="9200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9" name="Tier1Text"/>
          <p:cNvSpPr txBox="1">
            <a:spLocks noGrp="1"/>
          </p:cNvSpPr>
          <p:nvPr/>
        </p:nvSpPr>
        <p:spPr>
          <a:xfrm>
            <a:off x="228600" y="987552"/>
            <a:ext cx="2514600" cy="92000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400" b="1" dirty="0">
                <a:solidFill>
                  <a:srgbClr val="FFD700"/>
                </a:solidFill>
                <a:latin typeface="Calibri"/>
              </a:rPr>
              <a:t>Highly Trusted</a:t>
            </a:r>
          </a:p>
          <a:p>
            <a:r>
              <a:rPr lang="en-US" sz="1200" dirty="0">
                <a:solidFill>
                  <a:srgbClr val="A0AABF"/>
                </a:solidFill>
                <a:latin typeface="Calibri"/>
              </a:rPr>
              <a:t>Score 80–100 · Gold Badge</a:t>
            </a:r>
          </a:p>
          <a:p>
            <a:r>
              <a:rPr lang="en-US" sz="1100" dirty="0">
                <a:solidFill>
                  <a:srgbClr val="8892A4"/>
                </a:solidFill>
                <a:latin typeface="Calibri"/>
              </a:rPr>
              <a:t>Priority listing · discounted commission</a:t>
            </a:r>
          </a:p>
        </p:txBody>
      </p:sp>
      <p:sp>
        <p:nvSpPr>
          <p:cNvPr id="10" name="Tier2Bg"/>
          <p:cNvSpPr>
            <a:spLocks noGrp="1"/>
          </p:cNvSpPr>
          <p:nvPr/>
        </p:nvSpPr>
        <p:spPr>
          <a:xfrm>
            <a:off x="152400" y="1937552"/>
            <a:ext cx="2590800" cy="92000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Tier2Accent"/>
          <p:cNvSpPr>
            <a:spLocks noGrp="1"/>
          </p:cNvSpPr>
          <p:nvPr/>
        </p:nvSpPr>
        <p:spPr>
          <a:xfrm>
            <a:off x="152400" y="1937552"/>
            <a:ext cx="54864" cy="92000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Tier2Text"/>
          <p:cNvSpPr txBox="1">
            <a:spLocks noGrp="1"/>
          </p:cNvSpPr>
          <p:nvPr/>
        </p:nvSpPr>
        <p:spPr>
          <a:xfrm>
            <a:off x="228600" y="1937552"/>
            <a:ext cx="2514600" cy="92000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400" b="1" dirty="0">
                <a:solidFill>
                  <a:srgbClr val="00C9A7"/>
                </a:solidFill>
                <a:latin typeface="Calibri"/>
              </a:rPr>
              <a:t>Trusted</a:t>
            </a:r>
          </a:p>
          <a:p>
            <a:r>
              <a:rPr lang="en-US" sz="1200" dirty="0">
                <a:solidFill>
                  <a:srgbClr val="A0AABF"/>
                </a:solidFill>
                <a:latin typeface="Calibri"/>
              </a:rPr>
              <a:t>Score 60–79 · Green Badge</a:t>
            </a:r>
          </a:p>
          <a:p>
            <a:r>
              <a:rPr lang="en-US" sz="1100" dirty="0">
                <a:solidFill>
                  <a:srgbClr val="8892A4"/>
                </a:solidFill>
                <a:latin typeface="Calibri"/>
              </a:rPr>
              <a:t>Standard listing · full features</a:t>
            </a:r>
          </a:p>
        </p:txBody>
      </p:sp>
      <p:sp>
        <p:nvSpPr>
          <p:cNvPr id="13" name="Tier3Bg"/>
          <p:cNvSpPr>
            <a:spLocks noGrp="1"/>
          </p:cNvSpPr>
          <p:nvPr/>
        </p:nvSpPr>
        <p:spPr>
          <a:xfrm>
            <a:off x="152400" y="2887552"/>
            <a:ext cx="2590800" cy="92000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4" name="Tier3Accent"/>
          <p:cNvSpPr>
            <a:spLocks noGrp="1"/>
          </p:cNvSpPr>
          <p:nvPr/>
        </p:nvSpPr>
        <p:spPr>
          <a:xfrm>
            <a:off x="152400" y="2887552"/>
            <a:ext cx="54864" cy="92000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5" name="Tier3Text"/>
          <p:cNvSpPr txBox="1">
            <a:spLocks noGrp="1"/>
          </p:cNvSpPr>
          <p:nvPr/>
        </p:nvSpPr>
        <p:spPr>
          <a:xfrm>
            <a:off x="228600" y="2887552"/>
            <a:ext cx="2514600" cy="92000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400" b="1" dirty="0">
                <a:solidFill>
                  <a:srgbClr val="4472C4"/>
                </a:solidFill>
                <a:latin typeface="Calibri"/>
              </a:rPr>
              <a:t>Established</a:t>
            </a:r>
          </a:p>
          <a:p>
            <a:r>
              <a:rPr lang="en-US" sz="1200" dirty="0">
                <a:solidFill>
                  <a:srgbClr val="A0AABF"/>
                </a:solidFill>
                <a:latin typeface="Calibri"/>
              </a:rPr>
              <a:t>Score 40–59 · Blue Badge</a:t>
            </a:r>
          </a:p>
          <a:p>
            <a:r>
              <a:rPr lang="en-US" sz="1100" dirty="0">
                <a:solidFill>
                  <a:srgbClr val="8892A4"/>
                </a:solidFill>
                <a:latin typeface="Calibri"/>
              </a:rPr>
              <a:t>Building reputation · limited boosts</a:t>
            </a:r>
          </a:p>
        </p:txBody>
      </p:sp>
      <p:sp>
        <p:nvSpPr>
          <p:cNvPr id="16" name="Tier4Bg"/>
          <p:cNvSpPr>
            <a:spLocks noGrp="1"/>
          </p:cNvSpPr>
          <p:nvPr/>
        </p:nvSpPr>
        <p:spPr>
          <a:xfrm>
            <a:off x="152400" y="3837552"/>
            <a:ext cx="2590800" cy="92000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7" name="Tier4Accent"/>
          <p:cNvSpPr>
            <a:spLocks noGrp="1"/>
          </p:cNvSpPr>
          <p:nvPr/>
        </p:nvSpPr>
        <p:spPr>
          <a:xfrm>
            <a:off x="152400" y="3837552"/>
            <a:ext cx="54864" cy="920000"/>
          </a:xfrm>
          <a:prstGeom prst="rect">
            <a:avLst/>
          </a:prstGeom>
          <a:solidFill>
            <a:srgbClr val="8892A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8" name="Tier4Text"/>
          <p:cNvSpPr txBox="1">
            <a:spLocks noGrp="1"/>
          </p:cNvSpPr>
          <p:nvPr/>
        </p:nvSpPr>
        <p:spPr>
          <a:xfrm>
            <a:off x="228600" y="3837552"/>
            <a:ext cx="2514600" cy="92000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400" b="1" dirty="0">
                <a:solidFill>
                  <a:srgbClr val="8892A4"/>
                </a:solidFill>
                <a:latin typeface="Calibri"/>
              </a:rPr>
              <a:t>New</a:t>
            </a:r>
          </a:p>
          <a:p>
            <a:r>
              <a:rPr lang="en-US" sz="1200" dirty="0">
                <a:solidFill>
                  <a:srgbClr val="A0AABF"/>
                </a:solidFill>
                <a:latin typeface="Calibri"/>
              </a:rPr>
              <a:t>Score 0–39 · No Badge</a:t>
            </a:r>
          </a:p>
          <a:p>
            <a:r>
              <a:rPr lang="en-US" sz="1100" dirty="0">
                <a:solidFill>
                  <a:srgbClr val="8892A4"/>
                </a:solidFill>
                <a:latin typeface="Calibri"/>
              </a:rPr>
              <a:t>Unverified · restricted access</a:t>
            </a:r>
          </a:p>
        </p:txBody>
      </p:sp>
      <p:sp>
        <p:nvSpPr>
          <p:cNvPr id="19" name="PenaltiesBg"/>
          <p:cNvSpPr>
            <a:spLocks noGrp="1"/>
          </p:cNvSpPr>
          <p:nvPr/>
        </p:nvSpPr>
        <p:spPr>
          <a:xfrm>
            <a:off x="152400" y="4787552"/>
            <a:ext cx="2590800" cy="600000"/>
          </a:xfrm>
          <a:prstGeom prst="rect">
            <a:avLst/>
          </a:prstGeom>
          <a:solidFill>
            <a:srgbClr val="2C1A1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" name="PenaltiesAccent"/>
          <p:cNvSpPr>
            <a:spLocks noGrp="1"/>
          </p:cNvSpPr>
          <p:nvPr/>
        </p:nvSpPr>
        <p:spPr>
          <a:xfrm>
            <a:off x="152400" y="4787552"/>
            <a:ext cx="54864" cy="600000"/>
          </a:xfrm>
          <a:prstGeom prst="rect">
            <a:avLst/>
          </a:prstGeom>
          <a:solidFill>
            <a:srgbClr val="E8616A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1" name="PenaltiesText"/>
          <p:cNvSpPr txBox="1">
            <a:spLocks noGrp="1"/>
          </p:cNvSpPr>
          <p:nvPr/>
        </p:nvSpPr>
        <p:spPr>
          <a:xfrm>
            <a:off x="228600" y="4787552"/>
            <a:ext cx="2514600" cy="60000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300" b="1" dirty="0">
                <a:solidFill>
                  <a:srgbClr val="E8616A"/>
                </a:solidFill>
                <a:latin typeface="Calibri"/>
              </a:rPr>
              <a:t>Penalties</a:t>
            </a:r>
          </a:p>
          <a:p>
            <a:r>
              <a:rPr lang="en-US" sz="1100" dirty="0">
                <a:solidFill>
                  <a:srgbClr val="A0AABF"/>
                </a:solidFill>
                <a:latin typeface="Calibri"/>
              </a:rPr>
              <a:t>Dispute lost: -10 pts</a:t>
            </a:r>
          </a:p>
          <a:p>
            <a:r>
              <a:rPr lang="en-US" sz="1100" dirty="0">
                <a:solidFill>
                  <a:srgbClr val="A0AABF"/>
                </a:solidFill>
                <a:latin typeface="Calibri"/>
              </a:rPr>
              <a:t>No-show: -5 pts · Fraud: -25 pts</a:t>
            </a:r>
          </a:p>
        </p:txBody>
      </p:sp>
      <p:sp>
        <p:nvSpPr>
          <p:cNvPr id="22" name="Col1HeaderBg"/>
          <p:cNvSpPr>
            <a:spLocks noGrp="1"/>
          </p:cNvSpPr>
          <p:nvPr/>
        </p:nvSpPr>
        <p:spPr>
          <a:xfrm>
            <a:off x="2834640" y="807624"/>
            <a:ext cx="2917584" cy="731520"/>
          </a:xfrm>
          <a:prstGeom prst="rect">
            <a:avLst/>
          </a:prstGeom>
          <a:solidFill>
            <a:srgbClr val="1B3A6B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3" name="Col1TopAccent"/>
          <p:cNvSpPr>
            <a:spLocks noGrp="1"/>
          </p:cNvSpPr>
          <p:nvPr/>
        </p:nvSpPr>
        <p:spPr>
          <a:xfrm>
            <a:off x="2834640" y="807624"/>
            <a:ext cx="2917584" cy="4572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4" name="Col1HeaderText"/>
          <p:cNvSpPr txBox="1">
            <a:spLocks noGrp="1"/>
          </p:cNvSpPr>
          <p:nvPr/>
        </p:nvSpPr>
        <p:spPr>
          <a:xfrm>
            <a:off x="2834640" y="807624"/>
            <a:ext cx="2917584" cy="7315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Universal Score</a:t>
            </a:r>
          </a:p>
          <a:p>
            <a:pPr algn="ctr"/>
            <a:r>
              <a:rPr lang="en-US" sz="1100" dirty="0">
                <a:solidFill>
                  <a:srgbClr val="A0AABF"/>
                </a:solidFill>
                <a:latin typeface="Calibri"/>
              </a:rPr>
              <a:t>50 pts total · All categories</a:t>
            </a:r>
          </a:p>
        </p:txBody>
      </p:sp>
      <p:sp>
        <p:nvSpPr>
          <p:cNvPr id="25" name="Col1Row1Bg"/>
          <p:cNvSpPr>
            <a:spLocks noGrp="1"/>
          </p:cNvSpPr>
          <p:nvPr/>
        </p:nvSpPr>
        <p:spPr>
          <a:xfrm>
            <a:off x="2834640" y="1627632"/>
            <a:ext cx="2917584" cy="92304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6" name="Col1Row1Text"/>
          <p:cNvSpPr txBox="1">
            <a:spLocks noGrp="1"/>
          </p:cNvSpPr>
          <p:nvPr/>
        </p:nvSpPr>
        <p:spPr>
          <a:xfrm>
            <a:off x="2880360" y="162763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Verified Identity</a:t>
            </a:r>
            <a:r>
              <a:rPr lang="en-US" sz="1200" dirty="0" xml:space="preserve">
                <a:solidFill>
                  <a:srgbClr val="4472C4"/>
                </a:solidFill>
                <a:latin typeface="Calibri"/>
              </a:rPr>
              <a:t>	+20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ID verified by admin</a:t>
            </a:r>
          </a:p>
        </p:txBody>
      </p:sp>
      <p:sp>
        <p:nvSpPr>
          <p:cNvPr id="27" name="Col1Row2Bg"/>
          <p:cNvSpPr>
            <a:spLocks noGrp="1"/>
          </p:cNvSpPr>
          <p:nvPr/>
        </p:nvSpPr>
        <p:spPr>
          <a:xfrm>
            <a:off x="2834640" y="2596512"/>
            <a:ext cx="2917584" cy="923040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8" name="Col1Row2Text"/>
          <p:cNvSpPr txBox="1">
            <a:spLocks noGrp="1"/>
          </p:cNvSpPr>
          <p:nvPr/>
        </p:nvSpPr>
        <p:spPr>
          <a:xfrm>
            <a:off x="2880360" y="259651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Profile Complete</a:t>
            </a:r>
            <a:r>
              <a:rPr lang="en-US" sz="1200" dirty="0" xml:space="preserve">
                <a:solidFill>
                  <a:srgbClr val="4472C4"/>
                </a:solidFill>
                <a:latin typeface="Calibri"/>
              </a:rPr>
              <a:t>	+15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Photo, bio, contact filled</a:t>
            </a:r>
          </a:p>
        </p:txBody>
      </p:sp>
      <p:sp>
        <p:nvSpPr>
          <p:cNvPr id="29" name="Col1Row3Bg"/>
          <p:cNvSpPr>
            <a:spLocks noGrp="1"/>
          </p:cNvSpPr>
          <p:nvPr/>
        </p:nvSpPr>
        <p:spPr>
          <a:xfrm>
            <a:off x="2834640" y="3565392"/>
            <a:ext cx="2917584" cy="92304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0" name="Col1Row3Text"/>
          <p:cNvSpPr txBox="1">
            <a:spLocks noGrp="1"/>
          </p:cNvSpPr>
          <p:nvPr/>
        </p:nvSpPr>
        <p:spPr>
          <a:xfrm>
            <a:off x="2880360" y="356539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Payment Method</a:t>
            </a:r>
            <a:r>
              <a:rPr lang="en-US" sz="1200" dirty="0" xml:space="preserve">
                <a:solidFill>
                  <a:srgbClr val="4472C4"/>
                </a:solidFill>
                <a:latin typeface="Calibri"/>
              </a:rPr>
              <a:t>	+10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Bank / card linked</a:t>
            </a:r>
          </a:p>
        </p:txBody>
      </p:sp>
      <p:sp>
        <p:nvSpPr>
          <p:cNvPr id="31" name="Col1Row4Bg"/>
          <p:cNvSpPr>
            <a:spLocks noGrp="1"/>
          </p:cNvSpPr>
          <p:nvPr/>
        </p:nvSpPr>
        <p:spPr>
          <a:xfrm>
            <a:off x="2834640" y="4534272"/>
            <a:ext cx="2917584" cy="923040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2" name="Col1Row4Text"/>
          <p:cNvSpPr txBox="1">
            <a:spLocks noGrp="1"/>
          </p:cNvSpPr>
          <p:nvPr/>
        </p:nvSpPr>
        <p:spPr>
          <a:xfrm>
            <a:off x="2880360" y="453427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Active Subscription</a:t>
            </a:r>
            <a:r>
              <a:rPr lang="en-US" sz="1200" dirty="0" xml:space="preserve">
                <a:solidFill>
                  <a:srgbClr val="4472C4"/>
                </a:solidFill>
                <a:latin typeface="Calibri"/>
              </a:rPr>
              <a:t>	+5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Paid plan active</a:t>
            </a:r>
          </a:p>
        </p:txBody>
      </p:sp>
      <p:sp>
        <p:nvSpPr>
          <p:cNvPr id="33" name="Col1ProgressBg"/>
          <p:cNvSpPr>
            <a:spLocks noGrp="1"/>
          </p:cNvSpPr>
          <p:nvPr/>
        </p:nvSpPr>
        <p:spPr>
          <a:xfrm>
            <a:off x="2834640" y="5563800"/>
            <a:ext cx="2917584" cy="914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4" name="Col1ProgressFill"/>
          <p:cNvSpPr>
            <a:spLocks noGrp="1"/>
          </p:cNvSpPr>
          <p:nvPr/>
        </p:nvSpPr>
        <p:spPr>
          <a:xfrm>
            <a:off x="2834640" y="5563800"/>
            <a:ext cx="1458792" cy="91440"/>
          </a:xfrm>
          <a:prstGeom prst="rect">
            <a:avLst/>
          </a:prstGeom>
          <a:solidFill>
            <a:srgbClr val="4472C4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6" name="Col2HeaderBg"/>
          <p:cNvSpPr>
            <a:spLocks noGrp="1"/>
          </p:cNvSpPr>
          <p:nvPr/>
        </p:nvSpPr>
        <p:spPr>
          <a:xfrm>
            <a:off x="5916384" y="807624"/>
            <a:ext cx="2917584" cy="731520"/>
          </a:xfrm>
          <a:prstGeom prst="rect">
            <a:avLst/>
          </a:prstGeom>
          <a:solidFill>
            <a:srgbClr val="2D1B5E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7" name="Col2TopAccent"/>
          <p:cNvSpPr>
            <a:spLocks noGrp="1"/>
          </p:cNvSpPr>
          <p:nvPr/>
        </p:nvSpPr>
        <p:spPr>
          <a:xfrm>
            <a:off x="5916384" y="807624"/>
            <a:ext cx="2917584" cy="4572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8" name="Col2HeaderText"/>
          <p:cNvSpPr txBox="1">
            <a:spLocks noGrp="1"/>
          </p:cNvSpPr>
          <p:nvPr/>
        </p:nvSpPr>
        <p:spPr>
          <a:xfrm>
            <a:off x="5916384" y="807624"/>
            <a:ext cx="2917584" cy="7315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Track Record</a:t>
            </a:r>
          </a:p>
          <a:p>
            <a:pPr algn="ctr"/>
            <a:r>
              <a:rPr lang="en-US" sz="1100" dirty="0">
                <a:solidFill>
                  <a:srgbClr val="A0AABF"/>
                </a:solidFill>
                <a:latin typeface="Calibri"/>
              </a:rPr>
              <a:t>30 pts total · Transaction history</a:t>
            </a:r>
          </a:p>
        </p:txBody>
      </p:sp>
      <p:sp>
        <p:nvSpPr>
          <p:cNvPr id="39" name="Col2Row1Bg"/>
          <p:cNvSpPr>
            <a:spLocks noGrp="1"/>
          </p:cNvSpPr>
          <p:nvPr/>
        </p:nvSpPr>
        <p:spPr>
          <a:xfrm>
            <a:off x="5916384" y="1627632"/>
            <a:ext cx="2917584" cy="92304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0" name="Col2Row1Text"/>
          <p:cNvSpPr txBox="1">
            <a:spLocks noGrp="1"/>
          </p:cNvSpPr>
          <p:nvPr/>
        </p:nvSpPr>
        <p:spPr>
          <a:xfrm>
            <a:off x="5962104" y="162763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Successful Txns</a:t>
            </a:r>
            <a:r>
              <a:rPr lang="en-US" sz="1200" dirty="0" xml:space="preserve">
                <a:solidFill>
                  <a:srgbClr val="9B59B6"/>
                </a:solidFill>
                <a:latin typeface="Calibri"/>
              </a:rPr>
              <a:t>	+15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10+ completed deals</a:t>
            </a:r>
          </a:p>
        </p:txBody>
      </p:sp>
      <p:sp>
        <p:nvSpPr>
          <p:cNvPr id="41" name="Col2Row2Bg"/>
          <p:cNvSpPr>
            <a:spLocks noGrp="1"/>
          </p:cNvSpPr>
          <p:nvPr/>
        </p:nvSpPr>
        <p:spPr>
          <a:xfrm>
            <a:off x="5916384" y="2596512"/>
            <a:ext cx="2917584" cy="923040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2" name="Col2Row2Text"/>
          <p:cNvSpPr txBox="1">
            <a:spLocks noGrp="1"/>
          </p:cNvSpPr>
          <p:nvPr/>
        </p:nvSpPr>
        <p:spPr>
          <a:xfrm>
            <a:off x="5962104" y="259651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Positive Reviews</a:t>
            </a:r>
            <a:r>
              <a:rPr lang="en-US" sz="1200" dirty="0" xml:space="preserve">
                <a:solidFill>
                  <a:srgbClr val="9B59B6"/>
                </a:solidFill>
                <a:latin typeface="Calibri"/>
              </a:rPr>
              <a:t>	+10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4.5+ star average</a:t>
            </a:r>
          </a:p>
        </p:txBody>
      </p:sp>
      <p:sp>
        <p:nvSpPr>
          <p:cNvPr id="43" name="Col2Row3Bg"/>
          <p:cNvSpPr>
            <a:spLocks noGrp="1"/>
          </p:cNvSpPr>
          <p:nvPr/>
        </p:nvSpPr>
        <p:spPr>
          <a:xfrm>
            <a:off x="5916384" y="3565392"/>
            <a:ext cx="2917584" cy="923040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4" name="Col2Row3Text"/>
          <p:cNvSpPr txBox="1">
            <a:spLocks noGrp="1"/>
          </p:cNvSpPr>
          <p:nvPr/>
        </p:nvSpPr>
        <p:spPr>
          <a:xfrm>
            <a:off x="5962104" y="356539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Response Rate</a:t>
            </a:r>
            <a:r>
              <a:rPr lang="en-US" sz="1200" dirty="0" xml:space="preserve">
                <a:solidFill>
                  <a:srgbClr val="9B59B6"/>
                </a:solidFill>
                <a:latin typeface="Calibri"/>
              </a:rPr>
              <a:t>	+5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Responds within 24h</a:t>
            </a:r>
          </a:p>
        </p:txBody>
      </p:sp>
      <p:sp>
        <p:nvSpPr>
          <p:cNvPr id="45" name="Col2Row4Bg"/>
          <p:cNvSpPr>
            <a:spLocks noGrp="1"/>
          </p:cNvSpPr>
          <p:nvPr/>
        </p:nvSpPr>
        <p:spPr>
          <a:xfrm>
            <a:off x="5916384" y="4534272"/>
            <a:ext cx="2917584" cy="923040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6" name="Col2Row4Text"/>
          <p:cNvSpPr txBox="1">
            <a:spLocks noGrp="1"/>
          </p:cNvSpPr>
          <p:nvPr/>
        </p:nvSpPr>
        <p:spPr>
          <a:xfrm>
            <a:off x="5962104" y="4534272"/>
            <a:ext cx="2871864" cy="923040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Account Longevity</a:t>
            </a:r>
            <a:r>
              <a:rPr lang="en-US" sz="1200" dirty="0" xml:space="preserve">
                <a:solidFill>
                  <a:srgbClr val="9B59B6"/>
                </a:solidFill>
                <a:latin typeface="Calibri"/>
              </a:rPr>
              <a:t>	+5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1+ year active account</a:t>
            </a:r>
          </a:p>
        </p:txBody>
      </p:sp>
      <p:sp>
        <p:nvSpPr>
          <p:cNvPr id="47" name="Col2ProgressBg"/>
          <p:cNvSpPr>
            <a:spLocks noGrp="1"/>
          </p:cNvSpPr>
          <p:nvPr/>
        </p:nvSpPr>
        <p:spPr>
          <a:xfrm>
            <a:off x="5916384" y="5563800"/>
            <a:ext cx="2917584" cy="914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8" name="Col2ProgressFill"/>
          <p:cNvSpPr>
            <a:spLocks noGrp="1"/>
          </p:cNvSpPr>
          <p:nvPr/>
        </p:nvSpPr>
        <p:spPr>
          <a:xfrm>
            <a:off x="5916384" y="5563800"/>
            <a:ext cx="875275" cy="9144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0" name="Col3HeaderBg"/>
          <p:cNvSpPr>
            <a:spLocks noGrp="1"/>
          </p:cNvSpPr>
          <p:nvPr/>
        </p:nvSpPr>
        <p:spPr>
          <a:xfrm>
            <a:off x="8998128" y="807624"/>
            <a:ext cx="2965272" cy="731520"/>
          </a:xfrm>
          <a:prstGeom prst="rect">
            <a:avLst/>
          </a:prstGeom>
          <a:solidFill>
            <a:srgbClr val="0A3D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1" name="Col3TopAccent"/>
          <p:cNvSpPr>
            <a:spLocks noGrp="1"/>
          </p:cNvSpPr>
          <p:nvPr/>
        </p:nvSpPr>
        <p:spPr>
          <a:xfrm>
            <a:off x="8998128" y="807624"/>
            <a:ext cx="2965272" cy="4572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2" name="Col3HeaderText"/>
          <p:cNvSpPr txBox="1">
            <a:spLocks noGrp="1"/>
          </p:cNvSpPr>
          <p:nvPr/>
        </p:nvSpPr>
        <p:spPr>
          <a:xfrm>
            <a:off x="8998128" y="807624"/>
            <a:ext cx="2965272" cy="731520"/>
          </a:xfrm>
          <a:prstGeom prst="rect">
            <a:avLst/>
          </a:prstGeom>
          <a:noFill/>
        </p:spPr>
        <p:txBody>
          <a:bodyPr anchor="ctr"/>
          <a:lstStyle/>
          <a:p>
            <a:pPr algn="ctr"/>
            <a:r>
              <a:rPr lang="en-US" sz="1400" b="1" dirty="0">
                <a:solidFill>
                  <a:srgbClr val="FFFFFF"/>
                </a:solidFill>
                <a:latin typeface="Calibri"/>
              </a:rPr>
              <a:t>Category Credentials</a:t>
            </a:r>
          </a:p>
          <a:p>
            <a:pPr algn="ctr"/>
            <a:r>
              <a:rPr lang="en-US" sz="1100" dirty="0">
                <a:solidFill>
                  <a:srgbClr val="A0AABF"/>
                </a:solidFill>
                <a:latin typeface="Calibri"/>
              </a:rPr>
              <a:t>20 pts total · Per category</a:t>
            </a:r>
          </a:p>
        </p:txBody>
      </p:sp>
      <p:sp>
        <p:nvSpPr>
          <p:cNvPr id="53" name="Col3Row1Bg"/>
          <p:cNvSpPr>
            <a:spLocks noGrp="1"/>
          </p:cNvSpPr>
          <p:nvPr/>
        </p:nvSpPr>
        <p:spPr>
          <a:xfrm>
            <a:off x="8998128" y="1627632"/>
            <a:ext cx="2965272" cy="659314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4" name="Col3Row1Text"/>
          <p:cNvSpPr txBox="1">
            <a:spLocks noGrp="1"/>
          </p:cNvSpPr>
          <p:nvPr/>
        </p:nvSpPr>
        <p:spPr>
          <a:xfrm>
            <a:off x="9043848" y="1627632"/>
            <a:ext cx="2919552" cy="659314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Specialist Badge</a:t>
            </a:r>
            <a:r>
              <a:rPr lang="en-US" sz="1200" dirty="0" xml:space="preserve">
                <a:solidFill>
                  <a:srgbClr val="00C9A7"/>
                </a:solidFill>
                <a:latin typeface="Calibri"/>
              </a:rPr>
              <a:t>	+8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Admin-verified expertise</a:t>
            </a:r>
          </a:p>
        </p:txBody>
      </p:sp>
      <p:sp>
        <p:nvSpPr>
          <p:cNvPr id="55" name="Col3Row2Bg"/>
          <p:cNvSpPr>
            <a:spLocks noGrp="1"/>
          </p:cNvSpPr>
          <p:nvPr/>
        </p:nvSpPr>
        <p:spPr>
          <a:xfrm>
            <a:off x="8998128" y="2331466"/>
            <a:ext cx="2965272" cy="65931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6" name="Col3Row2Text"/>
          <p:cNvSpPr txBox="1">
            <a:spLocks noGrp="1"/>
          </p:cNvSpPr>
          <p:nvPr/>
        </p:nvSpPr>
        <p:spPr>
          <a:xfrm>
            <a:off x="9043848" y="2331466"/>
            <a:ext cx="2919552" cy="659314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Category Experience</a:t>
            </a:r>
            <a:r>
              <a:rPr lang="en-US" sz="1200" dirty="0" xml:space="preserve">
                <a:solidFill>
                  <a:srgbClr val="00C9A7"/>
                </a:solidFill>
                <a:latin typeface="Calibri"/>
              </a:rPr>
              <a:t>	+6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5+ deals in category</a:t>
            </a:r>
          </a:p>
        </p:txBody>
      </p:sp>
      <p:sp>
        <p:nvSpPr>
          <p:cNvPr id="57" name="Col3Row3Bg"/>
          <p:cNvSpPr>
            <a:spLocks noGrp="1"/>
          </p:cNvSpPr>
          <p:nvPr/>
        </p:nvSpPr>
        <p:spPr>
          <a:xfrm>
            <a:off x="8998128" y="3035300"/>
            <a:ext cx="2965272" cy="659314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58" name="Col3Row3Text"/>
          <p:cNvSpPr txBox="1">
            <a:spLocks noGrp="1"/>
          </p:cNvSpPr>
          <p:nvPr/>
        </p:nvSpPr>
        <p:spPr>
          <a:xfrm>
            <a:off x="9043848" y="3035300"/>
            <a:ext cx="2919552" cy="659314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Category Reviews</a:t>
            </a:r>
            <a:r>
              <a:rPr lang="en-US" sz="1200" dirty="0" xml:space="preserve">
                <a:solidFill>
                  <a:srgbClr val="00C9A7"/>
                </a:solidFill>
                <a:latin typeface="Calibri"/>
              </a:rPr>
              <a:t>	+4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4.5+ in this category</a:t>
            </a:r>
          </a:p>
        </p:txBody>
      </p:sp>
      <p:sp>
        <p:nvSpPr>
          <p:cNvPr id="59" name="Col3Row4Bg"/>
          <p:cNvSpPr>
            <a:spLocks noGrp="1"/>
          </p:cNvSpPr>
          <p:nvPr/>
        </p:nvSpPr>
        <p:spPr>
          <a:xfrm>
            <a:off x="8998128" y="3739134"/>
            <a:ext cx="2965272" cy="659314"/>
          </a:xfrm>
          <a:prstGeom prst="rect">
            <a:avLst/>
          </a:prstGeom>
          <a:solidFill>
            <a:srgbClr val="16203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0" name="Col3Row4Text"/>
          <p:cNvSpPr txBox="1">
            <a:spLocks noGrp="1"/>
          </p:cNvSpPr>
          <p:nvPr/>
        </p:nvSpPr>
        <p:spPr>
          <a:xfrm>
            <a:off x="9043848" y="3739134"/>
            <a:ext cx="2919552" cy="659314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Listing Quality</a:t>
            </a:r>
            <a:r>
              <a:rPr lang="en-US" sz="1200" dirty="0" xml:space="preserve">
                <a:solidFill>
                  <a:srgbClr val="00C9A7"/>
                </a:solidFill>
                <a:latin typeface="Calibri"/>
              </a:rPr>
              <a:t>	+2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Complete photos + description</a:t>
            </a:r>
          </a:p>
        </p:txBody>
      </p:sp>
      <p:sp>
        <p:nvSpPr>
          <p:cNvPr id="61" name="Col3Row5Bg"/>
          <p:cNvSpPr>
            <a:spLocks noGrp="1"/>
          </p:cNvSpPr>
          <p:nvPr/>
        </p:nvSpPr>
        <p:spPr>
          <a:xfrm>
            <a:off x="8998128" y="4442968"/>
            <a:ext cx="2965272" cy="659314"/>
          </a:xfrm>
          <a:prstGeom prst="rect">
            <a:avLst/>
          </a:prstGeom>
          <a:solidFill>
            <a:srgbClr val="1A23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2" name="Col3Row5Text"/>
          <p:cNvSpPr txBox="1">
            <a:spLocks noGrp="1"/>
          </p:cNvSpPr>
          <p:nvPr/>
        </p:nvSpPr>
        <p:spPr>
          <a:xfrm>
            <a:off x="9043848" y="4442968"/>
            <a:ext cx="2919552" cy="659314"/>
          </a:xfrm>
          <a:prstGeom prst="rect">
            <a:avLst/>
          </a:prstGeom>
          <a:noFill/>
        </p:spPr>
        <p:txBody>
          <a:bodyPr anchor="ctr" wrap="square"/>
          <a:lstStyle/>
          <a:p>
            <a:pPr>
              <a:tabLst>
                <a:tab pos="2743200" algn="r"/>
              </a:tabLst>
            </a:pPr>
            <a:r>
              <a:rPr lang="en-US" sz="1200" b="1" dirty="0">
                <a:solidFill>
                  <a:srgbClr val="FFFFFF"/>
                </a:solidFill>
                <a:latin typeface="Calibri"/>
              </a:rPr>
              <a:t>Repeat Buyers</a:t>
            </a:r>
            <a:r>
              <a:rPr lang="en-US" sz="1200" dirty="0" xml:space="preserve">
                <a:solidFill>
                  <a:srgbClr val="00C9A7"/>
                </a:solidFill>
                <a:latin typeface="Calibri"/>
              </a:rPr>
              <a:t>	+0</a:t>
            </a:r>
          </a:p>
          <a:p>
            <a:r>
              <a:rPr lang="en-US" sz="1000" dirty="0">
                <a:solidFill>
                  <a:srgbClr val="8892A4"/>
                </a:solidFill>
                <a:latin typeface="Calibri"/>
              </a:rPr>
              <a:t>Loyal buyer base</a:t>
            </a:r>
          </a:p>
        </p:txBody>
      </p:sp>
      <p:sp>
        <p:nvSpPr>
          <p:cNvPr id="63" name="Col3ProgressBg"/>
          <p:cNvSpPr>
            <a:spLocks noGrp="1"/>
          </p:cNvSpPr>
          <p:nvPr/>
        </p:nvSpPr>
        <p:spPr>
          <a:xfrm>
            <a:off x="8998128" y="5563800"/>
            <a:ext cx="2965272" cy="91440"/>
          </a:xfrm>
          <a:prstGeom prst="rect">
            <a:avLst/>
          </a:prstGeom>
          <a:solidFill>
            <a:srgbClr val="0D152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4" name="Col3ProgressFill"/>
          <p:cNvSpPr>
            <a:spLocks noGrp="1"/>
          </p:cNvSpPr>
          <p:nvPr/>
        </p:nvSpPr>
        <p:spPr>
          <a:xfrm>
            <a:off x="8998128" y="5563800"/>
            <a:ext cx="593054" cy="914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6" name="ZoneDStripBg"/>
          <p:cNvSpPr>
            <a:spLocks noGrp="1"/>
          </p:cNvSpPr>
          <p:nvPr/>
        </p:nvSpPr>
        <p:spPr>
          <a:xfrm>
            <a:off x="0" y="5715960"/>
            <a:ext cx="12192000" cy="1142040"/>
          </a:xfrm>
          <a:prstGeom prst="rect">
            <a:avLst/>
          </a:prstGeom>
          <a:solidFill>
            <a:srgbClr val="141E4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7" name="Pill1Bg"/>
          <p:cNvSpPr>
            <a:spLocks noGrp="1"/>
          </p:cNvSpPr>
          <p:nvPr/>
        </p:nvSpPr>
        <p:spPr>
          <a:xfrm>
            <a:off x="182880" y="5791800"/>
            <a:ext cx="2133600" cy="456840"/>
          </a:xfrm>
          <a:prstGeom prst="rect">
            <a:avLst/>
          </a:prstGeom>
          <a:solidFill>
            <a:srgbClr val="1A2A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8" name="Pill1Accent"/>
          <p:cNvSpPr>
            <a:spLocks noGrp="1"/>
          </p:cNvSpPr>
          <p:nvPr/>
        </p:nvSpPr>
        <p:spPr>
          <a:xfrm>
            <a:off x="182880" y="5791800"/>
            <a:ext cx="45720" cy="456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69" name="Pill1Text"/>
          <p:cNvSpPr txBox="1">
            <a:spLocks noGrp="1"/>
          </p:cNvSpPr>
          <p:nvPr/>
        </p:nvSpPr>
        <p:spPr>
          <a:xfrm>
            <a:off x="243840" y="5791800"/>
            <a:ext cx="2072640" cy="45684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100" b="1" dirty="0">
                <a:solidFill>
                  <a:srgbClr val="FFFFFF"/>
                </a:solidFill>
                <a:latin typeface="Calibri"/>
              </a:rPr>
              <a:t>Score resets annually</a:t>
            </a:r>
          </a:p>
          <a:p>
            <a:r>
              <a:rPr lang="en-US" sz="1000" dirty="0">
                <a:solidFill>
                  <a:srgbClr val="A0AABF"/>
                </a:solidFill>
                <a:latin typeface="Calibri"/>
              </a:rPr>
              <a:t>Keep earning each year</a:t>
            </a:r>
          </a:p>
        </p:txBody>
      </p:sp>
      <p:sp>
        <p:nvSpPr>
          <p:cNvPr id="70" name="Pill2Bg"/>
          <p:cNvSpPr>
            <a:spLocks noGrp="1"/>
          </p:cNvSpPr>
          <p:nvPr/>
        </p:nvSpPr>
        <p:spPr>
          <a:xfrm>
            <a:off x="2438400" y="5791800"/>
            <a:ext cx="2133600" cy="456840"/>
          </a:xfrm>
          <a:prstGeom prst="rect">
            <a:avLst/>
          </a:prstGeom>
          <a:solidFill>
            <a:srgbClr val="1A2A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1" name="Pill2Accent"/>
          <p:cNvSpPr>
            <a:spLocks noGrp="1"/>
          </p:cNvSpPr>
          <p:nvPr/>
        </p:nvSpPr>
        <p:spPr>
          <a:xfrm>
            <a:off x="2438400" y="5791800"/>
            <a:ext cx="45720" cy="456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2" name="Pill2Text"/>
          <p:cNvSpPr txBox="1">
            <a:spLocks noGrp="1"/>
          </p:cNvSpPr>
          <p:nvPr/>
        </p:nvSpPr>
        <p:spPr>
          <a:xfrm>
            <a:off x="2499360" y="5791800"/>
            <a:ext cx="2072640" cy="45684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100" b="1" dirty="0">
                <a:solidFill>
                  <a:srgbClr val="FFFFFF"/>
                </a:solidFill>
                <a:latin typeface="Calibri"/>
              </a:rPr>
              <a:t>Buyers have scores too</a:t>
            </a:r>
          </a:p>
          <a:p>
            <a:r>
              <a:rPr lang="en-US" sz="1000" dirty="0">
                <a:solidFill>
                  <a:srgbClr val="A0AABF"/>
                </a:solidFill>
                <a:latin typeface="Calibri"/>
              </a:rPr>
              <a:t>Trust is reciprocal</a:t>
            </a:r>
          </a:p>
        </p:txBody>
      </p:sp>
      <p:sp>
        <p:nvSpPr>
          <p:cNvPr id="73" name="Pill3Bg"/>
          <p:cNvSpPr>
            <a:spLocks noGrp="1"/>
          </p:cNvSpPr>
          <p:nvPr/>
        </p:nvSpPr>
        <p:spPr>
          <a:xfrm>
            <a:off x="4693920" y="5791800"/>
            <a:ext cx="2133600" cy="456840"/>
          </a:xfrm>
          <a:prstGeom prst="rect">
            <a:avLst/>
          </a:prstGeom>
          <a:solidFill>
            <a:srgbClr val="1A2A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4" name="Pill3Accent"/>
          <p:cNvSpPr>
            <a:spLocks noGrp="1"/>
          </p:cNvSpPr>
          <p:nvPr/>
        </p:nvSpPr>
        <p:spPr>
          <a:xfrm>
            <a:off x="4693920" y="5791800"/>
            <a:ext cx="45720" cy="456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5" name="Pill3Text"/>
          <p:cNvSpPr txBox="1">
            <a:spLocks noGrp="1"/>
          </p:cNvSpPr>
          <p:nvPr/>
        </p:nvSpPr>
        <p:spPr>
          <a:xfrm>
            <a:off x="4754880" y="5791800"/>
            <a:ext cx="2072640" cy="45684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100" b="1" dirty="0">
                <a:solidFill>
                  <a:srgbClr val="FFFFFF"/>
                </a:solidFill>
                <a:latin typeface="Calibri"/>
              </a:rPr>
              <a:t>Scores are public</a:t>
            </a:r>
          </a:p>
          <a:p>
            <a:r>
              <a:rPr lang="en-US" sz="1000" dirty="0">
                <a:solidFill>
                  <a:srgbClr val="A0AABF"/>
                </a:solidFill>
                <a:latin typeface="Calibri"/>
              </a:rPr>
              <a:t>Visible on all listings</a:t>
            </a:r>
          </a:p>
        </p:txBody>
      </p:sp>
      <p:sp>
        <p:nvSpPr>
          <p:cNvPr id="76" name="Pill4Bg"/>
          <p:cNvSpPr>
            <a:spLocks noGrp="1"/>
          </p:cNvSpPr>
          <p:nvPr/>
        </p:nvSpPr>
        <p:spPr>
          <a:xfrm>
            <a:off x="6949440" y="5791800"/>
            <a:ext cx="2133600" cy="456840"/>
          </a:xfrm>
          <a:prstGeom prst="rect">
            <a:avLst/>
          </a:prstGeom>
          <a:solidFill>
            <a:srgbClr val="1A2A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7" name="Pill4Accent"/>
          <p:cNvSpPr>
            <a:spLocks noGrp="1"/>
          </p:cNvSpPr>
          <p:nvPr/>
        </p:nvSpPr>
        <p:spPr>
          <a:xfrm>
            <a:off x="6949440" y="5791800"/>
            <a:ext cx="45720" cy="456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78" name="Pill4Text"/>
          <p:cNvSpPr txBox="1">
            <a:spLocks noGrp="1"/>
          </p:cNvSpPr>
          <p:nvPr/>
        </p:nvSpPr>
        <p:spPr>
          <a:xfrm>
            <a:off x="7010400" y="5791800"/>
            <a:ext cx="2072640" cy="45684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100" b="1" dirty="0">
                <a:solidFill>
                  <a:srgbClr val="FFFFFF"/>
                </a:solidFill>
                <a:latin typeface="Calibri"/>
              </a:rPr>
              <a:t>Dispute a score</a:t>
            </a:r>
          </a:p>
          <a:p>
            <a:r>
              <a:rPr lang="en-US" sz="1000" dirty="0">
                <a:solidFill>
                  <a:srgbClr val="A0AABF"/>
                </a:solidFill>
                <a:latin typeface="Calibri"/>
              </a:rPr>
              <a:t>Admin reviews within 48h</a:t>
            </a:r>
          </a:p>
        </p:txBody>
      </p:sp>
      <p:sp>
        <p:nvSpPr>
          <p:cNvPr id="79" name="Pill5Bg"/>
          <p:cNvSpPr>
            <a:spLocks noGrp="1"/>
          </p:cNvSpPr>
          <p:nvPr/>
        </p:nvSpPr>
        <p:spPr>
          <a:xfrm>
            <a:off x="9204960" y="5791800"/>
            <a:ext cx="2804640" cy="456840"/>
          </a:xfrm>
          <a:prstGeom prst="rect">
            <a:avLst/>
          </a:prstGeom>
          <a:solidFill>
            <a:srgbClr val="1A2A5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0" name="Pill5Accent"/>
          <p:cNvSpPr>
            <a:spLocks noGrp="1"/>
          </p:cNvSpPr>
          <p:nvPr/>
        </p:nvSpPr>
        <p:spPr>
          <a:xfrm>
            <a:off x="9204960" y="5791800"/>
            <a:ext cx="45720" cy="456840"/>
          </a:xfrm>
          <a:prstGeom prst="rect">
            <a:avLst/>
          </a:prstGeom>
          <a:solidFill>
            <a:srgbClr val="00C9A7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1" name="Pill5Text"/>
          <p:cNvSpPr txBox="1">
            <a:spLocks noGrp="1"/>
          </p:cNvSpPr>
          <p:nvPr/>
        </p:nvSpPr>
        <p:spPr>
          <a:xfrm>
            <a:off x="9265920" y="5791800"/>
            <a:ext cx="2743680" cy="456840"/>
          </a:xfrm>
          <a:prstGeom prst="rect">
            <a:avLst/>
          </a:prstGeom>
          <a:noFill/>
        </p:spPr>
        <p:txBody>
          <a:bodyPr anchor="ctr" wrap="square"/>
          <a:lstStyle/>
          <a:p>
            <a:r>
              <a:rPr lang="en-US" sz="1100" b="1" dirty="0">
                <a:solidFill>
                  <a:srgbClr val="FFFFFF"/>
                </a:solidFill>
                <a:latin typeface="Calibri"/>
              </a:rPr>
              <a:t>Inactivity penalty</a:t>
            </a:r>
          </a:p>
          <a:p>
            <a:r>
              <a:rPr lang="en-US" sz="1000" dirty="0">
                <a:solidFill>
                  <a:srgbClr val="A0AABF"/>
                </a:solidFill>
                <a:latin typeface="Calibri"/>
              </a:rPr>
              <a:t>90+ days idle: -5 pts/month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MarketSquare · Path to Launch</dc:title>
  <dc:subject>PptxGenJS Presentation</dc:subject>
  <dc:creator>MarketSquare</dc:creator>
  <cp:lastModifiedBy>MarketSquare</cp:lastModifiedBy>
  <cp:revision>1</cp:revision>
  <dcterms:created xsi:type="dcterms:W3CDTF">2026-04-15T17:23:17Z</dcterms:created>
  <dcterms:modified xsi:type="dcterms:W3CDTF">2026-04-15T17:23:17Z</dcterms:modified>
</cp:coreProperties>
</file>